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8" r:id="rId5"/>
  </p:sldMasterIdLst>
  <p:notesMasterIdLst>
    <p:notesMasterId r:id="rId6"/>
  </p:notesMasterIdLst>
  <p:sldIdLst>
    <p:sldId id="256" r:id="rId7"/>
    <p:sldId id="257" r:id="rId8"/>
    <p:sldId id="258" r:id="rId9"/>
    <p:sldId id="266" r:id="rId25"/>
    <p:sldId id="259" r:id="rId10"/>
    <p:sldId id="260" r:id="rId11"/>
    <p:sldId id="261" r:id="rId12"/>
    <p:sldId id="267" r:id="rId26"/>
    <p:sldId id="271" r:id="rId30"/>
    <p:sldId id="272" r:id="rId31"/>
    <p:sldId id="268" r:id="rId27"/>
    <p:sldId id="262" r:id="rId13"/>
    <p:sldId id="269" r:id="rId28"/>
    <p:sldId id="274" r:id="rId33"/>
    <p:sldId id="273" r:id="rId32"/>
    <p:sldId id="270" r:id="rId29"/>
    <p:sldId id="263" r:id="rId14"/>
    <p:sldId id="264" r:id="rId15"/>
    <p:sldId id="265" r:id="rId16"/>
    <p:sldId id="275" r:id="rId34"/>
  </p:sldIdLst>
  <p:sldSz cy="5143500" cx="9144000"/>
  <p:notesSz cx="6858000" cy="9144000"/>
  <p:embeddedFontLst>
    <p:embeddedFont>
      <p:font typeface="Open Sans Light"/>
      <p:regular r:id="rId17"/>
      <p:bold r:id="rId18"/>
      <p:italic r:id="rId19"/>
      <p:boldItalic r:id="rId20"/>
    </p:embeddedFont>
    <p:embeddedFont>
      <p:font typeface="Open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59">
          <p15:clr>
            <a:srgbClr val="747775"/>
          </p15:clr>
        </p15:guide>
        <p15:guide id="2" pos="5522">
          <p15:clr>
            <a:srgbClr val="747775"/>
          </p15:clr>
        </p15:guide>
        <p15:guide id="3" orient="horz" pos="764">
          <p15:clr>
            <a:srgbClr val="747775"/>
          </p15:clr>
        </p15:guide>
        <p15:guide id="4" orient="horz" pos="2478">
          <p15:clr>
            <a:srgbClr val="747775"/>
          </p15:clr>
        </p15:guide>
        <p15:guide id="5" orient="horz" pos="2615">
          <p15:clr>
            <a:srgbClr val="747775"/>
          </p15:clr>
        </p15:guide>
        <p15:guide id="6" orient="horz" pos="3023">
          <p15:clr>
            <a:srgbClr val="747775"/>
          </p15:clr>
        </p15:guide>
        <p15:guide id="7" pos="1813">
          <p15:clr>
            <a:srgbClr val="747775"/>
          </p15:clr>
        </p15:guide>
        <p15:guide id="8" pos="1950">
          <p15:clr>
            <a:srgbClr val="747775"/>
          </p15:clr>
        </p15:guide>
        <p15:guide id="9" pos="3652">
          <p15:clr>
            <a:srgbClr val="747775"/>
          </p15:clr>
        </p15:guide>
        <p15:guide id="10" pos="3794">
          <p15:clr>
            <a:srgbClr val="747775"/>
          </p15:clr>
        </p15:guide>
        <p15:guide id="11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7BE4396-FD88-403D-A040-2A6230E4996D}">
  <a:tblStyle styleId="{47BE4396-FD88-403D-A040-2A6230E499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59"/>
        <p:guide pos="5522"/>
        <p:guide pos="764" orient="horz"/>
        <p:guide pos="2478" orient="horz"/>
        <p:guide pos="2615" orient="horz"/>
        <p:guide pos="3023" orient="horz"/>
        <p:guide pos="1813"/>
        <p:guide pos="1950"/>
        <p:guide pos="3652"/>
        <p:guide pos="3794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12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font" Target="fonts/OpenSansLight-regular.fntdata"/><Relationship Id="rId18" Type="http://schemas.openxmlformats.org/officeDocument/2006/relationships/font" Target="fonts/OpenSansLight-bold.fntdata"/><Relationship Id="rId19" Type="http://schemas.openxmlformats.org/officeDocument/2006/relationships/font" Target="fonts/OpenSansLight-italic.fntdata"/><Relationship Id="rId20" Type="http://schemas.openxmlformats.org/officeDocument/2006/relationships/font" Target="fonts/OpenSansLight-boldItalic.fntdata"/><Relationship Id="rId21" Type="http://schemas.openxmlformats.org/officeDocument/2006/relationships/font" Target="fonts/OpenSans-regular.fntdata"/><Relationship Id="rId22" Type="http://schemas.openxmlformats.org/officeDocument/2006/relationships/font" Target="fonts/OpenSans-bold.fntdata"/><Relationship Id="rId23" Type="http://schemas.openxmlformats.org/officeDocument/2006/relationships/font" Target="fonts/OpenSans-italic.fntdata"/><Relationship Id="rId24" Type="http://schemas.openxmlformats.org/officeDocument/2006/relationships/font" Target="fonts/OpenSans-boldItalic.fntdata"/><Relationship Id="rId25" Type="http://schemas.openxmlformats.org/officeDocument/2006/relationships/slide" Target="slides/slide4.xml"/><Relationship Id="rId26" Type="http://schemas.openxmlformats.org/officeDocument/2006/relationships/slide" Target="slides/slide8.xml"/><Relationship Id="rId27" Type="http://schemas.openxmlformats.org/officeDocument/2006/relationships/slide" Target="slides/slide11.xml"/><Relationship Id="rId28" Type="http://schemas.openxmlformats.org/officeDocument/2006/relationships/slide" Target="slides/slide13.xml"/><Relationship Id="rId29" Type="http://schemas.openxmlformats.org/officeDocument/2006/relationships/slide" Target="slides/slide16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5.xml"/><Relationship Id="rId33" Type="http://schemas.openxmlformats.org/officeDocument/2006/relationships/slide" Target="slides/slide14.xml"/><Relationship Id="rId34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B2A4A"/>
                </a:solidFill>
              </a:rPr>
              <a:t>CV RMSE (S$), lower is better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CV RMSE (S$)</c:v>
                </c:pt>
              </c:strCache>
            </c:strRef>
          </c:tx>
          <c:dPt>
            <c:idx val="0"/>
            <c:spPr>
              <a:solidFill>
                <a:srgbClr val="9AA0A6"/>
              </a:solidFill>
            </c:spPr>
          </c:dPt>
          <c:dPt>
            <c:idx val="1"/>
            <c:spPr>
              <a:solidFill>
                <a:srgbClr val="2C5697"/>
              </a:solidFill>
            </c:spPr>
          </c:dPt>
          <c:dPt>
            <c:idx val="2"/>
            <c:spPr>
              <a:solidFill>
                <a:srgbClr val="C8102E"/>
              </a:solidFill>
            </c:spPr>
          </c:dPt>
          <c:cat>
            <c:strRef>
              <c:f>Sheet1!$A$2:$A$4</c:f>
              <c:strCache>
                <c:ptCount val="3"/>
                <c:pt idx="0">
                  <c:v>Linear Regression</c:v>
                </c:pt>
                <c:pt idx="1">
                  <c:v>Random Forest</c:v>
                </c:pt>
                <c:pt idx="2">
                  <c:v>Gradient Boosting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60245</c:v>
                </c:pt>
                <c:pt idx="1">
                  <c:v>36661</c:v>
                </c:pt>
                <c:pt idx="2">
                  <c:v>36121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A0A6"/>
            </a:solidFill>
          </a:ln>
        </c:spPr>
        <c:txPr>
          <a:bodyPr/>
          <a:lstStyle/>
          <a:p>
            <a:pPr>
              <a:defRPr sz="1000">
                <a:solidFill>
                  <a:srgbClr val="1F1F1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TickMark val="out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45d6ec7d82_0_4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g345d6ec7d82_0_4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Welcome. Today we build a machine learning model that predicts HDB resale prices, compare three algorithms, and deploy the best one as a web app.</a:t>
            </a:r>
          </a:p>
        </p:txBody>
      </p:sp>
      <p:sp>
        <p:nvSpPr>
          <p:cNvPr id="51" name="Google Shape;51;g345d6ec7d82_0_4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45d6ec7d82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Module C3.1. Repo: https://github.com/flexfengfeng/6m-data-c3.2-HDB_price_predictor</a:t>
            </a:r>
          </a:p>
        </p:txBody>
      </p:sp>
      <p:sp>
        <p:nvSpPr>
          <p:cNvPr id="62" name="Google Shape;62;g345d6ec7d82_0_9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eb2d9e87c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" name="Google Shape;67;g3eeb2d9e87c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Learners fork the repo, work through the notebook, run model.py to train and pick the best model, then deploy app.py on Streamlit Community Cloud.</a:t>
            </a:r>
          </a:p>
        </p:txBody>
      </p:sp>
      <p:sp>
        <p:nvSpPr>
          <p:cNvPr id="68" name="Google Shape;68;g3eeb2d9e87c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eeb2d9e87c_0_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g3eeb2d9e87c_0_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Coefficients come from the notebook, Part 5 (floor_area_sqm ≈ 3,771, storey ≈ 4,790). Ask: does an extra sqm really add the same dollars in every town?</a:t>
            </a:r>
          </a:p>
        </p:txBody>
      </p:sp>
      <p:sp>
        <p:nvSpPr>
          <p:cNvPr id="78" name="Google Shape;78;g3eeb2d9e87c_0_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f140bf9105_1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f140bf9105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Line of best fit: the model chooses b0 and b1 to minimise the squared vertical distances (errors) between the points and the line.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eec6a1ea80_0_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4" name="Google Shape;94;g3eec6a1ea80_0_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Quick recap: regression predicts a number, classification predicts a category. HDB price is a number, so all three of today's models are regressors.</a:t>
            </a:r>
          </a:p>
        </p:txBody>
      </p:sp>
      <p:sp>
        <p:nvSpPr>
          <p:cNvPr id="95" name="Google Shape;95;g3eec6a1ea80_0_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eda3fae0ea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eda3fae0ea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row is one resale transaction. load_data() in hdb_features.py reads the local CSV and falls back to the original URL if the file is missing.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eec6a1ea80_0_69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9" name="Google Shape;109;g3eec6a1ea80_0_69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Run: python model.py (about 1 minute). It prints the comparison table and the chosen model. model_card.json stores every model's scores plus the towns, flat types and ranges the app needs.</a:t>
            </a:r>
          </a:p>
        </p:txBody>
      </p:sp>
      <p:sp>
        <p:nvSpPr>
          <p:cNvPr id="110" name="Google Shape;110;g3eec6a1ea80_0_69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eda3fae0ea_0_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9" name="Google Shape;119;g3eda3fae0ea_0_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Key idea: column names and order must match training (FEATURES from hdb_features.py). The app opens at http://localhost:8501.</a:t>
            </a:r>
          </a:p>
        </p:txBody>
      </p:sp>
      <p:sp>
        <p:nvSpPr>
          <p:cNvPr id="120" name="Google Shape;120;g3eda3fae0ea_0_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da3fae0ea_0_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eda3fae0ea_0_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Common failure: forgetting to push models/hdb_price_model.joblib and model_card.json. The app then shows 'No trained model found'. Troubleshooting table is in setup.md.</a:t>
            </a:r>
          </a:p>
        </p:txBody>
      </p:sp>
      <p:sp>
        <p:nvSpPr>
          <p:cNvPr id="128" name="Google Shape;128;g3eda3fae0ea_0_3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six stops. Emphasise that the point is not just to train one model, but to compare several fairly and justify which one we deploy.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tree on the right is illustrative, not our trained model. Point out how the second question depends on the first: that is an interaction a linear model cannot learn.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Random Forest = many independent trees averaged (bagging). Gradient Boosting = trees built in sequence, each correcting the last (boosting). All three are wrapped in the same Pipeline.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numbers come from the DummyRegressor cell in the notebook (Part 4.4). RMSE is in the same units as price but punishes large errors, which matter for expensive flats.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model.py uses KFold(n_splits=5, shuffle=True, random_state=42) and cross_validate. The test set is used exactly once, after the model is chosen.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hdb_features.py: storey_midpoint() and add_features(). In the notebook, Part 4.2 prints the 36 encoded column names. handle_unknown='ignore' stops the app crashing on an unseen category.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Setup: conda create --name hdb_project python=3.12, then pip install -r requirements-dev.txt. Pause at the discussion questions at the end of Part 8.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Numbers come straight from python model.py (also in README.md and models/model_card.json). Gradient Boosting is highlighted because it is the deployed model.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Discussion: accuracy is only one criterion. For a web app, file size, prediction speed and explainability also matter. model.py applies the CV RMSE rule automatically.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match the exercises at the end of hdb_price_model.ipynb. Exercise 4 needs the month column as a feature, or training on recent months only.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175125" y="4616075"/>
            <a:ext cx="854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76550" y="147875"/>
            <a:ext cx="8310000" cy="7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76850" y="987925"/>
            <a:ext cx="8310000" cy="3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175125" y="4616075"/>
            <a:ext cx="854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2/3 Content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0" y="0"/>
            <a:ext cx="3191700" cy="492780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175125" y="4616075"/>
            <a:ext cx="854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277025" y="344075"/>
            <a:ext cx="2914800" cy="913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subTitle"/>
          </p:nvPr>
        </p:nvSpPr>
        <p:spPr>
          <a:xfrm>
            <a:off x="204500" y="1423350"/>
            <a:ext cx="2987100" cy="33225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b="1" sz="2200">
                <a:solidFill>
                  <a:schemeClr val="lt1"/>
                </a:solidFill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100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10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2" type="body"/>
          </p:nvPr>
        </p:nvSpPr>
        <p:spPr>
          <a:xfrm>
            <a:off x="3345900" y="412575"/>
            <a:ext cx="5537400" cy="4418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•"/>
              <a:defRPr/>
            </a:lvl1pPr>
            <a:lvl2pPr indent="-368300" lvl="1" marL="914400">
              <a:spcBef>
                <a:spcPts val="1000"/>
              </a:spcBef>
              <a:spcAft>
                <a:spcPts val="0"/>
              </a:spcAft>
              <a:buSzPts val="2200"/>
              <a:buChar char="–"/>
              <a:defRPr/>
            </a:lvl2pPr>
            <a:lvl3pPr indent="-355600" lvl="2" marL="1371600">
              <a:spcBef>
                <a:spcPts val="1000"/>
              </a:spcBef>
              <a:spcAft>
                <a:spcPts val="0"/>
              </a:spcAft>
              <a:buSzPts val="2000"/>
              <a:buChar char="•"/>
              <a:defRPr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4pPr>
            <a:lvl5pPr indent="-330200" lvl="4" marL="2286000">
              <a:spcBef>
                <a:spcPts val="1000"/>
              </a:spcBef>
              <a:spcAft>
                <a:spcPts val="0"/>
              </a:spcAft>
              <a:buSzPts val="1600"/>
              <a:buChar char="»"/>
              <a:defRPr/>
            </a:lvl5pPr>
            <a:lvl6pPr indent="-317500" lvl="5" marL="27432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76550" y="147875"/>
            <a:ext cx="8310000" cy="7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175125" y="4616075"/>
            <a:ext cx="854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ft 2/3 Content">
  <p:cSld name="CUSTOM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328025" y="147875"/>
            <a:ext cx="5551800" cy="7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 Light"/>
              <a:buNone/>
              <a:defRPr i="0" sz="3000" u="none" cap="none" strike="noStrike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8" name="Google Shape;28;p6"/>
          <p:cNvSpPr/>
          <p:nvPr>
            <p:ph idx="2" type="pic"/>
          </p:nvPr>
        </p:nvSpPr>
        <p:spPr>
          <a:xfrm>
            <a:off x="0" y="0"/>
            <a:ext cx="3063300" cy="4913100"/>
          </a:xfrm>
          <a:prstGeom prst="rect">
            <a:avLst/>
          </a:prstGeom>
          <a:noFill/>
          <a:ln>
            <a:noFill/>
          </a:ln>
        </p:spPr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3328075" y="975600"/>
            <a:ext cx="5551800" cy="3783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>
              <a:spcBef>
                <a:spcPts val="1000"/>
              </a:spcBef>
              <a:spcAft>
                <a:spcPts val="0"/>
              </a:spcAft>
              <a:buSzPts val="2400"/>
              <a:buChar char="•"/>
              <a:defRPr/>
            </a:lvl1pPr>
            <a:lvl2pPr indent="-368300" lvl="1" marL="914400">
              <a:spcBef>
                <a:spcPts val="1000"/>
              </a:spcBef>
              <a:spcAft>
                <a:spcPts val="0"/>
              </a:spcAft>
              <a:buSzPts val="2200"/>
              <a:buChar char="–"/>
              <a:defRPr/>
            </a:lvl2pPr>
            <a:lvl3pPr indent="-355600" lvl="2" marL="1371600">
              <a:spcBef>
                <a:spcPts val="1000"/>
              </a:spcBef>
              <a:spcAft>
                <a:spcPts val="0"/>
              </a:spcAft>
              <a:buSzPts val="2000"/>
              <a:buChar char="•"/>
              <a:defRPr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4pPr>
            <a:lvl5pPr indent="-330200" lvl="4" marL="2286000">
              <a:spcBef>
                <a:spcPts val="1000"/>
              </a:spcBef>
              <a:spcAft>
                <a:spcPts val="0"/>
              </a:spcAft>
              <a:buSzPts val="1600"/>
              <a:buChar char="»"/>
              <a:defRPr/>
            </a:lvl5pPr>
            <a:lvl6pPr indent="-317500" lvl="5" marL="27432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ight 2/3 Content">
  <p:cSld name="CUSTOM_1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/>
          <p:nvPr>
            <p:ph idx="2" type="pic"/>
          </p:nvPr>
        </p:nvSpPr>
        <p:spPr>
          <a:xfrm>
            <a:off x="6080700" y="0"/>
            <a:ext cx="3063300" cy="4899900"/>
          </a:xfrm>
          <a:prstGeom prst="rect">
            <a:avLst/>
          </a:prstGeom>
          <a:noFill/>
          <a:ln>
            <a:noFill/>
          </a:ln>
        </p:spPr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376550" y="1006425"/>
            <a:ext cx="5373000" cy="3893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•"/>
              <a:defRPr/>
            </a:lvl1pPr>
            <a:lvl2pPr indent="-368300" lvl="1" marL="914400">
              <a:spcBef>
                <a:spcPts val="1000"/>
              </a:spcBef>
              <a:spcAft>
                <a:spcPts val="0"/>
              </a:spcAft>
              <a:buSzPts val="2200"/>
              <a:buChar char="–"/>
              <a:defRPr/>
            </a:lvl2pPr>
            <a:lvl3pPr indent="-355600" lvl="2" marL="1371600">
              <a:spcBef>
                <a:spcPts val="1000"/>
              </a:spcBef>
              <a:spcAft>
                <a:spcPts val="0"/>
              </a:spcAft>
              <a:buSzPts val="2000"/>
              <a:buChar char="•"/>
              <a:defRPr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4pPr>
            <a:lvl5pPr indent="-330200" lvl="4" marL="2286000">
              <a:spcBef>
                <a:spcPts val="1000"/>
              </a:spcBef>
              <a:spcAft>
                <a:spcPts val="0"/>
              </a:spcAft>
              <a:buSzPts val="1600"/>
              <a:buChar char="»"/>
              <a:defRPr/>
            </a:lvl5pPr>
            <a:lvl6pPr indent="-317500" lvl="5" marL="27432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3" name="Google Shape;33;p7"/>
          <p:cNvSpPr txBox="1"/>
          <p:nvPr>
            <p:ph type="title"/>
          </p:nvPr>
        </p:nvSpPr>
        <p:spPr>
          <a:xfrm>
            <a:off x="376550" y="147875"/>
            <a:ext cx="8310000" cy="7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 Light"/>
              <a:buNone/>
              <a:defRPr i="0" sz="3000" u="none" cap="none" strike="noStrike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-Column Content">
  <p:cSld name="CUSTOM_2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376550" y="147875"/>
            <a:ext cx="8310000" cy="7599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457200" y="875325"/>
            <a:ext cx="3602400" cy="35679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•"/>
              <a:defRPr/>
            </a:lvl1pPr>
            <a:lvl2pPr indent="-368300" lvl="1" marL="914400">
              <a:spcBef>
                <a:spcPts val="1000"/>
              </a:spcBef>
              <a:spcAft>
                <a:spcPts val="0"/>
              </a:spcAft>
              <a:buSzPts val="2200"/>
              <a:buChar char="–"/>
              <a:defRPr/>
            </a:lvl2pPr>
            <a:lvl3pPr indent="-355600" lvl="2" marL="1371600">
              <a:spcBef>
                <a:spcPts val="1000"/>
              </a:spcBef>
              <a:spcAft>
                <a:spcPts val="0"/>
              </a:spcAft>
              <a:buSzPts val="2000"/>
              <a:buChar char="•"/>
              <a:defRPr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4pPr>
            <a:lvl5pPr indent="-330200" lvl="4" marL="2286000">
              <a:spcBef>
                <a:spcPts val="1000"/>
              </a:spcBef>
              <a:spcAft>
                <a:spcPts val="0"/>
              </a:spcAft>
              <a:buSzPts val="1600"/>
              <a:buChar char="»"/>
              <a:defRPr/>
            </a:lvl5pPr>
            <a:lvl6pPr indent="-317500" lvl="5" marL="27432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7" name="Google Shape;37;p8"/>
          <p:cNvSpPr txBox="1"/>
          <p:nvPr>
            <p:ph idx="2" type="body"/>
          </p:nvPr>
        </p:nvSpPr>
        <p:spPr>
          <a:xfrm>
            <a:off x="4990000" y="875325"/>
            <a:ext cx="3696900" cy="36861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•"/>
              <a:defRPr/>
            </a:lvl1pPr>
            <a:lvl2pPr indent="-368300" lvl="1" marL="914400">
              <a:spcBef>
                <a:spcPts val="1000"/>
              </a:spcBef>
              <a:spcAft>
                <a:spcPts val="0"/>
              </a:spcAft>
              <a:buSzPts val="2200"/>
              <a:buChar char="–"/>
              <a:defRPr/>
            </a:lvl2pPr>
            <a:lvl3pPr indent="-355600" lvl="2" marL="1371600">
              <a:spcBef>
                <a:spcPts val="1000"/>
              </a:spcBef>
              <a:spcAft>
                <a:spcPts val="0"/>
              </a:spcAft>
              <a:buSzPts val="2000"/>
              <a:buChar char="•"/>
              <a:defRPr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4pPr>
            <a:lvl5pPr indent="-330200" lvl="4" marL="2286000">
              <a:spcBef>
                <a:spcPts val="1000"/>
              </a:spcBef>
              <a:spcAft>
                <a:spcPts val="0"/>
              </a:spcAft>
              <a:buSzPts val="1600"/>
              <a:buChar char="»"/>
              <a:defRPr/>
            </a:lvl5pPr>
            <a:lvl6pPr indent="-317500" lvl="5" marL="27432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cxnSp>
        <p:nvCxnSpPr>
          <p:cNvPr id="38" name="Google Shape;38;p8"/>
          <p:cNvCxnSpPr/>
          <p:nvPr/>
        </p:nvCxnSpPr>
        <p:spPr>
          <a:xfrm>
            <a:off x="4572000" y="1052325"/>
            <a:ext cx="0" cy="3390900"/>
          </a:xfrm>
          <a:prstGeom prst="straightConnector1">
            <a:avLst/>
          </a:prstGeom>
          <a:noFill/>
          <a:ln cap="flat" cmpd="sng" w="9525">
            <a:solidFill>
              <a:srgbClr val="C51A4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type="ctrTitle"/>
          </p:nvPr>
        </p:nvSpPr>
        <p:spPr>
          <a:xfrm>
            <a:off x="685800" y="1597819"/>
            <a:ext cx="7772400" cy="11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" type="subTitle"/>
          </p:nvPr>
        </p:nvSpPr>
        <p:spPr>
          <a:xfrm>
            <a:off x="1371600" y="2914650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000"/>
              </a:spcBef>
              <a:spcAft>
                <a:spcPts val="100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7982222" y="4886307"/>
            <a:ext cx="704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•"/>
              <a:defRPr/>
            </a:lvl1pPr>
            <a:lvl2pPr indent="-368300" lvl="1" marL="914400">
              <a:spcBef>
                <a:spcPts val="1000"/>
              </a:spcBef>
              <a:spcAft>
                <a:spcPts val="0"/>
              </a:spcAft>
              <a:buSzPts val="2200"/>
              <a:buChar char="–"/>
              <a:defRPr/>
            </a:lvl2pPr>
            <a:lvl3pPr indent="-355600" lvl="2" marL="1371600">
              <a:spcBef>
                <a:spcPts val="1000"/>
              </a:spcBef>
              <a:spcAft>
                <a:spcPts val="0"/>
              </a:spcAft>
              <a:buSzPts val="2000"/>
              <a:buChar char="•"/>
              <a:defRPr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–"/>
              <a:defRPr/>
            </a:lvl4pPr>
            <a:lvl5pPr indent="-330200" lvl="4" marL="2286000">
              <a:spcBef>
                <a:spcPts val="1000"/>
              </a:spcBef>
              <a:spcAft>
                <a:spcPts val="0"/>
              </a:spcAft>
              <a:buSzPts val="1600"/>
              <a:buChar char="»"/>
              <a:defRPr/>
            </a:lvl5pPr>
            <a:lvl6pPr indent="-317500" lvl="5" marL="27432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 rot="5400000">
            <a:off x="4455600" y="455028"/>
            <a:ext cx="232800" cy="9144000"/>
          </a:xfrm>
          <a:prstGeom prst="rect">
            <a:avLst/>
          </a:prstGeom>
          <a:solidFill>
            <a:srgbClr val="C51A4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376550" y="147875"/>
            <a:ext cx="8310000" cy="7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 Light"/>
              <a:buNone/>
              <a:defRPr i="0" sz="3000" u="none" cap="none" strike="noStrike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376850" y="987925"/>
            <a:ext cx="8310000" cy="36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•"/>
              <a:defRPr i="0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683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Open Sans"/>
              <a:buChar char="–"/>
              <a:defRPr i="0" sz="2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556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Char char="•"/>
              <a:defRPr i="0" sz="20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429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–"/>
              <a:defRPr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302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Open Sans"/>
              <a:buChar char="»"/>
              <a:defRPr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•"/>
              <a:defRPr i="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•"/>
              <a:defRPr i="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•"/>
              <a:defRPr i="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Open Sans"/>
              <a:buChar char="•"/>
              <a:defRPr i="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175125" y="4616075"/>
            <a:ext cx="854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1000" u="none" cap="none" strike="noStrik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marR="0" rtl="0" algn="r">
              <a:spcBef>
                <a:spcPts val="0"/>
              </a:spcBef>
              <a:buNone/>
              <a:defRPr i="0" sz="1000" u="none" cap="none" strike="noStrik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marR="0" rtl="0" algn="r">
              <a:spcBef>
                <a:spcPts val="0"/>
              </a:spcBef>
              <a:buNone/>
              <a:defRPr i="0" sz="1000" u="none" cap="none" strike="noStrik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marR="0" rtl="0" algn="r">
              <a:spcBef>
                <a:spcPts val="0"/>
              </a:spcBef>
              <a:buNone/>
              <a:defRPr i="0" sz="1000" u="none" cap="none" strike="noStrik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marR="0" rtl="0" algn="r">
              <a:spcBef>
                <a:spcPts val="0"/>
              </a:spcBef>
              <a:buNone/>
              <a:defRPr i="0" sz="1000" u="none" cap="none" strike="noStrik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marR="0" rtl="0" algn="r">
              <a:spcBef>
                <a:spcPts val="0"/>
              </a:spcBef>
              <a:buNone/>
              <a:defRPr i="0" sz="1000" u="none" cap="none" strike="noStrik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marR="0" rtl="0" algn="r">
              <a:spcBef>
                <a:spcPts val="0"/>
              </a:spcBef>
              <a:buNone/>
              <a:defRPr i="0" sz="1000" u="none" cap="none" strike="noStrik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marR="0" rtl="0" algn="r">
              <a:spcBef>
                <a:spcPts val="0"/>
              </a:spcBef>
              <a:buNone/>
              <a:defRPr i="0" sz="1000" u="none" cap="none" strike="noStrik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marR="0" rtl="0" algn="r">
              <a:spcBef>
                <a:spcPts val="0"/>
              </a:spcBef>
              <a:buNone/>
              <a:defRPr i="0" sz="1000" u="none" cap="none" strike="noStrike">
                <a:solidFill>
                  <a:srgbClr val="888888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" name="Google Shape;10;p1"/>
          <p:cNvSpPr txBox="1"/>
          <p:nvPr/>
        </p:nvSpPr>
        <p:spPr>
          <a:xfrm>
            <a:off x="6474250" y="4938050"/>
            <a:ext cx="2670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Copyright © 202</a:t>
            </a:r>
            <a:r>
              <a:rPr lang="en-GB" sz="600">
                <a:solidFill>
                  <a:srgbClr val="FFFFFF"/>
                </a:solidFill>
              </a:rPr>
              <a:t>6</a:t>
            </a:r>
            <a:r>
              <a:rPr b="0" i="0" lang="en-GB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Nanyang Technological University. All rights reserved. 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raw.githubusercontent.com/kohjiaxuan/Predicting-HDB-Price-with-Machine-Learning/master/resale-flat-prices-based-on-registration-date-from-jan-2017-onwards.csv" TargetMode="External"/><Relationship Id="rId4" Type="http://schemas.openxmlformats.org/officeDocument/2006/relationships/hyperlink" Target="https://data.gov.sg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share.streamlit.io/" TargetMode="External"/><Relationship Id="rId4" Type="http://schemas.openxmlformats.org/officeDocument/2006/relationships/hyperlink" Target="http://setup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uilding with a balcony and trees&#10;&#10;Description automatically generated" id="53" name="Google Shape;53;p12"/>
          <p:cNvPicPr preferRelativeResize="0"/>
          <p:nvPr/>
        </p:nvPicPr>
        <p:blipFill rotWithShape="1">
          <a:blip r:embed="rId3">
            <a:alphaModFix/>
          </a:blip>
          <a:srcRect b="0" l="0" r="33271" t="0"/>
          <a:stretch/>
        </p:blipFill>
        <p:spPr>
          <a:xfrm>
            <a:off x="4629241" y="0"/>
            <a:ext cx="4572001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2"/>
          <p:cNvSpPr/>
          <p:nvPr/>
        </p:nvSpPr>
        <p:spPr>
          <a:xfrm>
            <a:off x="4629240" y="4339244"/>
            <a:ext cx="4572000" cy="804300"/>
          </a:xfrm>
          <a:prstGeom prst="rect">
            <a:avLst/>
          </a:prstGeom>
          <a:solidFill>
            <a:srgbClr val="181C62">
              <a:alpha val="8000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2"/>
          <p:cNvSpPr/>
          <p:nvPr/>
        </p:nvSpPr>
        <p:spPr>
          <a:xfrm>
            <a:off x="0" y="4339244"/>
            <a:ext cx="4629300" cy="804300"/>
          </a:xfrm>
          <a:prstGeom prst="rect">
            <a:avLst/>
          </a:prstGeom>
          <a:solidFill>
            <a:srgbClr val="181C6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2"/>
          <p:cNvSpPr/>
          <p:nvPr/>
        </p:nvSpPr>
        <p:spPr>
          <a:xfrm>
            <a:off x="1" y="0"/>
            <a:ext cx="342900" cy="5143500"/>
          </a:xfrm>
          <a:prstGeom prst="rect">
            <a:avLst/>
          </a:prstGeom>
          <a:solidFill>
            <a:srgbClr val="C51A4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2"/>
          <p:cNvSpPr txBox="1"/>
          <p:nvPr/>
        </p:nvSpPr>
        <p:spPr>
          <a:xfrm>
            <a:off x="565475" y="1649875"/>
            <a:ext cx="3631800" cy="9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7500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81C62"/>
              </a:buClr>
              <a:buSzPts val="3000"/>
              <a:buFont typeface="Open Sans Light"/>
              <a:buNone/>
            </a:pPr>
            <a:r>
              <a:rPr lang="en-GB" sz="2400">
                <a:solidFill>
                  <a:srgbClr val="181C6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(SCTP) Advanced Professional Certificate</a:t>
            </a:r>
            <a:endParaRPr sz="2400"/>
          </a:p>
        </p:txBody>
      </p:sp>
      <p:sp>
        <p:nvSpPr>
          <p:cNvPr id="58" name="Google Shape;58;p12"/>
          <p:cNvSpPr txBox="1"/>
          <p:nvPr/>
        </p:nvSpPr>
        <p:spPr>
          <a:xfrm>
            <a:off x="562516" y="2571750"/>
            <a:ext cx="3892200" cy="60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7500" spcFirstLastPara="1" rIns="68575" wrap="square" tIns="342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1C62"/>
              </a:buClr>
              <a:buSzPts val="1500"/>
              <a:buFont typeface="Open Sans"/>
              <a:buNone/>
            </a:pPr>
            <a:r>
              <a:t/>
            </a:r>
            <a:endParaRPr sz="11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1C62"/>
              </a:buClr>
              <a:buSzPts val="1500"/>
              <a:buFont typeface="Open Sans"/>
              <a:buNone/>
            </a:pPr>
            <a:r>
              <a:rPr b="1" lang="en-GB" sz="2400">
                <a:solidFill>
                  <a:srgbClr val="181C62"/>
                </a:solidFill>
                <a:latin typeface="Open Sans"/>
                <a:ea typeface="Open Sans"/>
                <a:cs typeface="Open Sans"/>
                <a:sym typeface="Open Sans"/>
              </a:rPr>
              <a:t>Data Science and AI</a:t>
            </a:r>
            <a:endParaRPr b="1" sz="2400">
              <a:solidFill>
                <a:srgbClr val="181C62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59" name="Google Shape;59;p12"/>
          <p:cNvPicPr preferRelativeResize="0"/>
          <p:nvPr/>
        </p:nvPicPr>
        <p:blipFill rotWithShape="1">
          <a:blip r:embed="rId4">
            <a:alphaModFix/>
          </a:blip>
          <a:srcRect b="33662" l="0" r="0" t="30759"/>
          <a:stretch/>
        </p:blipFill>
        <p:spPr>
          <a:xfrm>
            <a:off x="342900" y="0"/>
            <a:ext cx="4263655" cy="996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ctrTitle"/>
          </p:nvPr>
        </p:nvSpPr>
        <p:spPr>
          <a:xfrm>
            <a:off x="599700" y="2161500"/>
            <a:ext cx="7944600" cy="11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r>
              <a:rPr b="1" lang="en-GB">
                <a:solidFill>
                  <a:schemeClr val="lt1"/>
                </a:solidFill>
              </a:rPr>
              <a:t>C</a:t>
            </a:r>
            <a:r>
              <a:rPr b="1" lang="en-GB" sz="3000">
                <a:solidFill>
                  <a:schemeClr val="lt1"/>
                </a:solidFill>
              </a:rPr>
              <a:t>3.</a:t>
            </a:r>
            <a:r>
              <a:rPr b="1" lang="en-GB">
                <a:solidFill>
                  <a:schemeClr val="lt1"/>
                </a:solidFill>
              </a:rPr>
              <a:t>1</a:t>
            </a:r>
            <a:r>
              <a:rPr b="1" lang="en-GB" sz="3000">
                <a:solidFill>
                  <a:schemeClr val="lt1"/>
                </a:solidFill>
              </a:rPr>
              <a:t> </a:t>
            </a:r>
            <a:r>
              <a:rPr b="1" lang="en-GB">
                <a:solidFill>
                  <a:schemeClr val="lt1"/>
                </a:solidFill>
              </a:rPr>
              <a:t>Predicting HDB Prices: 3 Models &amp; Streamlit Deployment</a:t>
            </a:r>
            <a:endParaRPr b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A4A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411480" y="994410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300"/>
              <a:buFont typeface="Open Sans"/>
              <a:buNone/>
            </a:pPr>
            <a:r>
              <a:rPr b="1" lang="en-GB" sz="1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Coaching Session 1</a:t>
            </a:r>
            <a:r>
              <a:rPr b="1" lang="en-GB" sz="1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 ·  Machine Learning &amp; GenAI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72" name="Google Shape;72;p14"/>
          <p:cNvSpPr/>
          <p:nvPr/>
        </p:nvSpPr>
        <p:spPr>
          <a:xfrm>
            <a:off x="411480" y="144018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5400"/>
              <a:buFont typeface="Open Sans"/>
              <a:buNone/>
            </a:pPr>
            <a:r>
              <a:rPr lang="en-GB" sz="5400">
                <a:solidFill>
                  <a:schemeClr val="accent6"/>
                </a:solidFill>
                <a:latin typeface="Open Sans"/>
                <a:ea typeface="Open Sans"/>
                <a:cs typeface="Open Sans"/>
                <a:sym typeface="Open Sans"/>
              </a:rPr>
              <a:t>C3.1</a:t>
            </a:r>
            <a:endParaRPr sz="1100">
              <a:solidFill>
                <a:schemeClr val="accent6"/>
              </a:solidFill>
            </a:endParaRPr>
          </a:p>
        </p:txBody>
      </p:sp>
      <p:sp>
        <p:nvSpPr>
          <p:cNvPr id="73" name="Google Shape;73;p14"/>
          <p:cNvSpPr/>
          <p:nvPr/>
        </p:nvSpPr>
        <p:spPr>
          <a:xfrm>
            <a:off x="411480" y="2125980"/>
            <a:ext cx="82296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300"/>
              <a:buFont typeface="Open Sans"/>
              <a:buNone/>
            </a:pPr>
            <a:r>
              <a:rPr lang="en-GB" sz="53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HDB Price Predictor </a:t>
            </a:r>
            <a:br>
              <a:rPr lang="en-GB" sz="53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b="1" lang="en-GB" sz="5300">
                <a:solidFill>
                  <a:schemeClr val="accent6"/>
                </a:solidFill>
                <a:latin typeface="Open Sans"/>
                <a:ea typeface="Open Sans"/>
                <a:cs typeface="Open Sans"/>
                <a:sym typeface="Open Sans"/>
              </a:rPr>
              <a:t>Comparing 3 Models</a:t>
            </a:r>
            <a:endParaRPr sz="1100">
              <a:solidFill>
                <a:schemeClr val="accent6"/>
              </a:solidFill>
            </a:endParaRPr>
          </a:p>
        </p:txBody>
      </p:sp>
      <p:sp>
        <p:nvSpPr>
          <p:cNvPr id="74" name="Google Shape;74;p14"/>
          <p:cNvSpPr/>
          <p:nvPr/>
        </p:nvSpPr>
        <p:spPr>
          <a:xfrm>
            <a:off x="411480" y="4114800"/>
            <a:ext cx="8229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Open Sans"/>
              <a:buNone/>
            </a:pPr>
            <a:r>
              <a:rPr i="1" lang="en-GB" sz="17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Linear Regression vs Random Forest vs Gradient Boosting, then deploy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0" y="0"/>
            <a:ext cx="9143700" cy="109800"/>
          </a:xfrm>
          <a:prstGeom prst="rect">
            <a:avLst/>
          </a:prstGeom>
          <a:solidFill>
            <a:srgbClr val="2C56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411480" y="240030"/>
            <a:ext cx="8229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Today's roadmap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411480" y="685800"/>
            <a:ext cx="8229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85" name="Google Shape;85;p15"/>
          <p:cNvSpPr txBox="1"/>
          <p:nvPr/>
        </p:nvSpPr>
        <p:spPr>
          <a:xfrm>
            <a:off x="411475" y="1047375"/>
            <a:ext cx="6953100" cy="793800"/>
          </a:xfrm>
          <a:prstGeom prst="rect">
            <a:avLst/>
          </a:prstGeom>
          <a:solidFill>
            <a:srgbClr val="1B2A4A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80000" spcFirstLastPara="1" rIns="180000" wrap="square" tIns="1800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Goal: predict the resale price of an HDB flat, compare three models fairly, and deploy the best one as a web app.</a:t>
            </a:r>
            <a:endParaRPr i="1" sz="13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86" name="Connector 85"/>
          <p:cNvCxnSpPr/>
          <p:nvPr/>
        </p:nvCxnSpPr>
        <p:spPr>
          <a:xfrm>
            <a:off x="1426464" y="2788920"/>
            <a:ext cx="804672" cy="0"/>
          </a:xfrm>
          <a:prstGeom prst="line">
            <a:avLst/>
          </a:prstGeom>
          <a:ln w="254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859536" y="2505456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3246120"/>
            <a:ext cx="1280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Models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Linear Regression, Random Forest, Gradient Boosting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798064" y="2788920"/>
            <a:ext cx="804672" cy="0"/>
          </a:xfrm>
          <a:prstGeom prst="line">
            <a:avLst/>
          </a:prstGeom>
          <a:ln w="254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2231136" y="2505456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74519" y="3246120"/>
            <a:ext cx="1280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Metrics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MAE, RMSE and R²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4169663" y="2788920"/>
            <a:ext cx="804673" cy="0"/>
          </a:xfrm>
          <a:prstGeom prst="line">
            <a:avLst/>
          </a:prstGeom>
          <a:ln w="254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3602736" y="2505456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46120" y="3246120"/>
            <a:ext cx="1280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Fair comparison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Train/test split and cross-validation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541264" y="2788920"/>
            <a:ext cx="804672" cy="0"/>
          </a:xfrm>
          <a:prstGeom prst="line">
            <a:avLst/>
          </a:prstGeom>
          <a:ln w="254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4974336" y="2505456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617720" y="3246120"/>
            <a:ext cx="1280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Features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Storey, one-hot encoding, Pipeline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912864" y="2788920"/>
            <a:ext cx="804672" cy="0"/>
          </a:xfrm>
          <a:prstGeom prst="line">
            <a:avLst/>
          </a:prstGeom>
          <a:ln w="25400">
            <a:solidFill>
              <a:srgbClr val="C9D6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6345936" y="2505456"/>
            <a:ext cx="566928" cy="56692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89320" y="3246120"/>
            <a:ext cx="1280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Code-along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Notebook, model.py, app.py</a:t>
            </a:r>
          </a:p>
        </p:txBody>
      </p:sp>
      <p:sp>
        <p:nvSpPr>
          <p:cNvPr id="101" name="Oval 100"/>
          <p:cNvSpPr/>
          <p:nvPr/>
        </p:nvSpPr>
        <p:spPr>
          <a:xfrm>
            <a:off x="7717536" y="2505456"/>
            <a:ext cx="566928" cy="566928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60920" y="3246120"/>
            <a:ext cx="1280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Deploy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Streamlit Community Cloud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0" y="0"/>
            <a:ext cx="9143700" cy="109800"/>
          </a:xfrm>
          <a:prstGeom prst="rect">
            <a:avLst/>
          </a:prstGeom>
          <a:solidFill>
            <a:srgbClr val="2C56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411480" y="240030"/>
            <a:ext cx="8229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300">
                <a:solidFill>
                  <a:srgbClr val="1B2A4A"/>
                </a:solidFill>
                <a:latin typeface="Open Sans"/>
                <a:ea typeface="Open Sans"/>
                <a:cs typeface="Open Sans"/>
                <a:sym typeface="Open Sans"/>
              </a:rPr>
              <a:t>Linear Regression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411480" y="685800"/>
            <a:ext cx="8229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84" name="Google Shape;84;p15"/>
          <p:cNvSpPr txBox="1"/>
          <p:nvPr/>
        </p:nvSpPr>
        <p:spPr>
          <a:xfrm>
            <a:off x="411480" y="2011680"/>
            <a:ext cx="7114032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Imagine you want to know if an HDB flat is priced fairly. Size matters, but so do location, floor level and the age of the lease.</a:t>
            </a:r>
            <a:endParaRPr b="1" sz="1300">
              <a:solidFill>
                <a:srgbClr val="2C5697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Linear regression finds the best straight line through the data. With several features it learns one weight per feature:  price = b₀ + b₁ × floor area + b₂ × storey + …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The Goal: find the weights that make predictions as close as possible to the real prices.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The Prediction: plug a new flat's features into the formula.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In our model, each extra sqm adds about S$3,800 and each extra storey about S$4,800. That easy-to-read output is linear regression's biggest strength.</a:t>
            </a:r>
          </a:p>
        </p:txBody>
      </p:sp>
      <p:sp>
        <p:nvSpPr>
          <p:cNvPr id="85" name="Google Shape;85;p15"/>
          <p:cNvSpPr txBox="1"/>
          <p:nvPr/>
        </p:nvSpPr>
        <p:spPr>
          <a:xfrm>
            <a:off x="411475" y="1047375"/>
            <a:ext cx="6953100" cy="793800"/>
          </a:xfrm>
          <a:prstGeom prst="rect">
            <a:avLst/>
          </a:prstGeom>
          <a:solidFill>
            <a:srgbClr val="1B2A4A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80000" spcFirstLastPara="1" rIns="180000" wrap="square" tIns="1800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1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Linear Regression is used when you want to predict a continuous number (e.g., weight, price, temperature, salary).</a:t>
            </a:r>
            <a:endParaRPr i="1" sz="13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/>
          <p:nvPr>
            <p:ph type="title"/>
          </p:nvPr>
        </p:nvSpPr>
        <p:spPr>
          <a:xfrm>
            <a:off x="376550" y="147875"/>
            <a:ext cx="8310000" cy="759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latin typeface="Open Sans"/>
                <a:ea typeface="Open Sans"/>
                <a:cs typeface="Open Sans"/>
                <a:sym typeface="Open Sans"/>
              </a:rPr>
              <a:t>Linear regression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1" name="Google Shape;91;p16" title="Gemini_Generated_Image_hwp5i3hwp5i3hwp5.png"/>
          <p:cNvPicPr preferRelativeResize="0"/>
          <p:nvPr/>
        </p:nvPicPr>
        <p:blipFill rotWithShape="1">
          <a:blip r:embed="rId3">
            <a:alphaModFix/>
          </a:blip>
          <a:srcRect b="3245" l="1319" r="49276" t="3245"/>
          <a:stretch/>
        </p:blipFill>
        <p:spPr>
          <a:xfrm>
            <a:off x="3095150" y="907775"/>
            <a:ext cx="3494298" cy="360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0" y="0"/>
            <a:ext cx="9143700" cy="109800"/>
          </a:xfrm>
          <a:prstGeom prst="rect">
            <a:avLst/>
          </a:prstGeom>
          <a:solidFill>
            <a:srgbClr val="2C56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411480" y="240030"/>
            <a:ext cx="8229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300">
                <a:solidFill>
                  <a:srgbClr val="1B2A4A"/>
                </a:solidFill>
                <a:latin typeface="Open Sans"/>
                <a:ea typeface="Open Sans"/>
                <a:cs typeface="Open Sans"/>
                <a:sym typeface="Open Sans"/>
              </a:rPr>
              <a:t>Difference : Linear vs Logistic regression</a:t>
            </a:r>
            <a:endParaRPr sz="1100"/>
          </a:p>
        </p:txBody>
      </p:sp>
      <p:graphicFrame>
        <p:nvGraphicFramePr>
          <p:cNvPr id="100" name="Google Shape;100;p17"/>
          <p:cNvGraphicFramePr/>
          <p:nvPr/>
        </p:nvGraphicFramePr>
        <p:xfrm>
          <a:off x="672488" y="10522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{47BE4396-FD88-403D-A040-2A6230E4996D}</a:tableStyleId>
              </a:tblPr>
              <a:tblGrid>
                <a:gridCol w="1924825"/>
                <a:gridCol w="2879025"/>
                <a:gridCol w="2903700"/>
              </a:tblGrid>
              <a:tr h="6266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b="1" lang="en-GB" sz="1100"/>
                        <a:t>Feature</a:t>
                      </a:r>
                      <a:endParaRPr b="1" sz="1100"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b="1" lang="en-GB" sz="1100"/>
                        <a:t>Linear Regression</a:t>
                      </a:r>
                      <a:endParaRPr b="1" sz="1100"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b="1" lang="en-GB" sz="1100"/>
                        <a:t>Logistic Regression</a:t>
                      </a:r>
                      <a:endParaRPr b="1" sz="1100"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0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b="1" lang="en-GB" sz="1100"/>
                        <a:t>What does it predict?</a:t>
                      </a:r>
                      <a:endParaRPr b="1" sz="1100"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lang="en-GB" sz="1100"/>
                        <a:t>A specific, continuous </a:t>
                      </a:r>
                      <a:r>
                        <a:rPr b="1" lang="en-GB" sz="1100"/>
                        <a:t>value/number</a:t>
                      </a:r>
                      <a:r>
                        <a:rPr lang="en-GB" sz="1100"/>
                        <a:t>.</a:t>
                      </a:r>
                      <a:endParaRPr sz="1100"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lang="en-GB" sz="1100"/>
                        <a:t>A </a:t>
                      </a:r>
                      <a:r>
                        <a:rPr b="1" lang="en-GB" sz="1100"/>
                        <a:t>probability</a:t>
                      </a:r>
                      <a:r>
                        <a:rPr lang="en-GB" sz="1100"/>
                        <a:t> that leads to a Yes/No category.</a:t>
                      </a:r>
                      <a:endParaRPr sz="1100"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215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b="1" lang="en-GB" sz="1100"/>
                        <a:t>What does the line look like?</a:t>
                      </a:r>
                      <a:endParaRPr b="1" sz="1100"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lang="en-GB" sz="1100"/>
                        <a:t>A straight line ($/$) going up or down.</a:t>
                      </a:r>
                      <a:endParaRPr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lang="en-GB" sz="1100"/>
                        <a:t>An S-shaped curve ($S$) that flattens at 0 and 1</a:t>
                      </a:r>
                      <a:r>
                        <a:rPr lang="en-GB"/>
                        <a:t>.</a:t>
                      </a:r>
                      <a:endParaRPr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0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b="1" lang="en-GB" sz="1100"/>
                        <a:t>Example</a:t>
                      </a:r>
                      <a:endParaRPr b="1" sz="1100"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lang="en-GB" sz="1100"/>
                        <a:t>Predicting how many marks a student will score.</a:t>
                      </a:r>
                      <a:endParaRPr sz="1100"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2400"/>
                        </a:spcAft>
                        <a:buNone/>
                      </a:pPr>
                      <a:r>
                        <a:rPr lang="en-GB" sz="1100"/>
                        <a:t>Predicting whether a student will Pass or Fail.</a:t>
                      </a:r>
                      <a:endParaRPr sz="1100"/>
                    </a:p>
                  </a:txBody>
                  <a:tcPr marT="76200" marB="76200" marR="114300" marL="114300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0" y="0"/>
            <a:ext cx="9143700" cy="109800"/>
          </a:xfrm>
          <a:prstGeom prst="rect">
            <a:avLst/>
          </a:prstGeom>
          <a:solidFill>
            <a:srgbClr val="2C56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411480" y="240030"/>
            <a:ext cx="8229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Beyond straight lines: decision trees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411480" y="685800"/>
            <a:ext cx="8229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84" name="Google Shape;84;p15"/>
          <p:cNvSpPr txBox="1"/>
          <p:nvPr/>
        </p:nvSpPr>
        <p:spPr>
          <a:xfrm>
            <a:off x="411480" y="2011680"/>
            <a:ext cx="402336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Why we need it</a:t>
            </a:r>
            <a:endParaRPr b="1" sz="1300">
              <a:solidFill>
                <a:srgbClr val="2C5697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Price does not rise in a straight line with lease year or storey, and an extra sqm is worth more in Bishan than in Woodlands. Trees capture these curves and interactions automatically.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The catch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One deep tree memorises the training data (overfitting). Combining many trees fixes this. That is exactly what Random Forest and Gradient Boosting do.</a:t>
            </a:r>
          </a:p>
        </p:txBody>
      </p:sp>
      <p:sp>
        <p:nvSpPr>
          <p:cNvPr id="85" name="Google Shape;85;p15"/>
          <p:cNvSpPr txBox="1"/>
          <p:nvPr/>
        </p:nvSpPr>
        <p:spPr>
          <a:xfrm>
            <a:off x="411475" y="1047375"/>
            <a:ext cx="6953100" cy="793800"/>
          </a:xfrm>
          <a:prstGeom prst="rect">
            <a:avLst/>
          </a:prstGeom>
          <a:solidFill>
            <a:srgbClr val="1B2A4A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80000" spcFirstLastPara="1" rIns="180000" wrap="square" tIns="1800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A decision tree predicts by asking yes/no questions about the flat, then returning the average price of similar flats in the training data.</a:t>
            </a:r>
            <a:endParaRPr i="1" sz="13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5669279" y="2103120"/>
            <a:ext cx="2103120" cy="438912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Floor area &gt; 100 sqm?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54880" y="2926080"/>
            <a:ext cx="1828800" cy="438912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Lease after 1995?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858000" y="2926080"/>
            <a:ext cx="1828800" cy="438912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Central town?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727448" y="3749039"/>
            <a:ext cx="877824" cy="384048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S$330k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33288" y="3749039"/>
            <a:ext cx="877824" cy="384048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S$430k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830568" y="3749039"/>
            <a:ext cx="877824" cy="384048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S$560k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836408" y="3749039"/>
            <a:ext cx="877824" cy="384048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S$720k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5669280" y="2542032"/>
            <a:ext cx="1051560" cy="384048"/>
          </a:xfrm>
          <a:prstGeom prst="line">
            <a:avLst/>
          </a:prstGeom>
          <a:ln w="15875">
            <a:solidFill>
              <a:srgbClr val="9AA0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6720840" y="2542032"/>
            <a:ext cx="1051560" cy="384048"/>
          </a:xfrm>
          <a:prstGeom prst="line">
            <a:avLst/>
          </a:prstGeom>
          <a:ln w="15875">
            <a:solidFill>
              <a:srgbClr val="9AA0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5166360" y="3364992"/>
            <a:ext cx="502920" cy="384047"/>
          </a:xfrm>
          <a:prstGeom prst="line">
            <a:avLst/>
          </a:prstGeom>
          <a:ln w="15875">
            <a:solidFill>
              <a:srgbClr val="9AA0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5669280" y="3364992"/>
            <a:ext cx="502920" cy="384047"/>
          </a:xfrm>
          <a:prstGeom prst="line">
            <a:avLst/>
          </a:prstGeom>
          <a:ln w="15875">
            <a:solidFill>
              <a:srgbClr val="9AA0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269480" y="3364992"/>
            <a:ext cx="502920" cy="384047"/>
          </a:xfrm>
          <a:prstGeom prst="line">
            <a:avLst/>
          </a:prstGeom>
          <a:ln w="15875">
            <a:solidFill>
              <a:srgbClr val="9AA0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7772400" y="3364992"/>
            <a:ext cx="502920" cy="384047"/>
          </a:xfrm>
          <a:prstGeom prst="line">
            <a:avLst/>
          </a:prstGeom>
          <a:ln w="15875">
            <a:solidFill>
              <a:srgbClr val="9AA0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5897880" y="25603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No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269480" y="25603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Yes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983480" y="3401568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No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172200" y="3401568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Yes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6600" y="3401568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No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5320" y="3401568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Yes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709160" y="425196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Illustrative example: each leaf predicts the average price of the training flats that end up there.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0" y="0"/>
            <a:ext cx="9143700" cy="109800"/>
          </a:xfrm>
          <a:prstGeom prst="rect">
            <a:avLst/>
          </a:prstGeom>
          <a:solidFill>
            <a:srgbClr val="2C56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411480" y="240030"/>
            <a:ext cx="8229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Three models, three ways to learn</a:t>
            </a:r>
            <a:endParaRPr sz="1100"/>
          </a:p>
        </p:txBody>
      </p:sp>
      <p:graphicFrame>
        <p:nvGraphicFramePr>
          <p:cNvPr id="100" name="Google Shape;100;p17"/>
          <p:cNvGraphicFramePr/>
          <p:nvPr/>
        </p:nvGraphicFramePr>
        <p:xfrm>
          <a:off x="411480" y="868680"/>
          <a:ext cx="8275320" cy="3108960"/>
        </p:xfrm>
        <a:graphic>
          <a:graphicData uri="http://schemas.openxmlformats.org/drawingml/2006/table">
            <a:tbl>
              <a:tblPr>
                <a:noFill/>
                <a:tableStyleId>{47BE4396-FD88-403D-A040-2A6230E4996D}</a:tableStyleId>
              </a:tblPr>
              <a:tblGrid>
                <a:gridCol w="1417320"/>
                <a:gridCol w="2286000"/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/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>Linear Regression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>Random Forest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>Gradient Boosting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How it learns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One weighted sum of the features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Many deep trees, each trained on a random sample of the data; their predictions are averaged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Many small trees built one after another; each new tree fixes the errors still left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Strengths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Fast, tiny file, easy to explain (S$ per unit)</a:t>
                      </a:r>
                      <a:endParaRPr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Captures curves and interactions; needs little tuning</a:t>
                      </a:r>
                      <a:endParaRPr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Often the most accurate on tabular data; compact file</a:t>
                      </a:r>
                      <a:endParaRPr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Watch out for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Assumes straight-line, additive effects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Large file (stores every tree); slower to predict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Slower to train; more settings to tune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Settings in model.py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None to tune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n_estimators=100, min_samples_leaf=2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n_estimators=500, max_depth=5, learning_rate=0.1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0" y="0"/>
            <a:ext cx="9143700" cy="109800"/>
          </a:xfrm>
          <a:prstGeom prst="rect">
            <a:avLst/>
          </a:prstGeom>
          <a:solidFill>
            <a:srgbClr val="2C56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411480" y="240030"/>
            <a:ext cx="8229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How do we measure error?</a:t>
            </a:r>
            <a:endParaRPr sz="1100"/>
          </a:p>
        </p:txBody>
      </p:sp>
      <p:graphicFrame>
        <p:nvGraphicFramePr>
          <p:cNvPr id="100" name="Google Shape;100;p17"/>
          <p:cNvGraphicFramePr/>
          <p:nvPr/>
        </p:nvGraphicFramePr>
        <p:xfrm>
          <a:off x="411480" y="868680"/>
          <a:ext cx="8229600" cy="2322576"/>
        </p:xfrm>
        <a:graphic>
          <a:graphicData uri="http://schemas.openxmlformats.org/drawingml/2006/table">
            <a:tbl>
              <a:tblPr>
                <a:noFill/>
                <a:tableStyleId>{47BE4396-FD88-403D-A040-2A6230E4996D}</a:tableStyleId>
              </a:tblPr>
              <a:tblGrid>
                <a:gridCol w="1188720"/>
                <a:gridCol w="5120640"/>
                <a:gridCol w="1920240"/>
              </a:tblGrid>
              <a:tr h="34747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>Metric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>What it tells you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>Better when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MAE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Mean absolute error: the average size of a miss, in S$. Easy to explain: "off by about S$26k on average".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Lower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RMSE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Root mean squared error: squares each error first, so big misses count more. We use it to choose the model.</a:t>
                      </a:r>
                      <a:endParaRPr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Lower</a:t>
                      </a:r>
                      <a:endParaRPr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R²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Share of price variation the model explains. 1 = perfect, 0 = no better than guessing the average price.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Closer to 1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01" name="Rounded Rectangle 100"/>
          <p:cNvSpPr/>
          <p:nvPr/>
        </p:nvSpPr>
        <p:spPr>
          <a:xfrm>
            <a:off x="411480" y="3657600"/>
            <a:ext cx="8229600" cy="73152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Always compare against a baseline. </a:t>
            </a: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Predicting the average price for every flat gives R² = 0 and MAE ≈ S$119k. Any real model must beat that.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0" y="0"/>
            <a:ext cx="9143700" cy="109800"/>
          </a:xfrm>
          <a:prstGeom prst="rect">
            <a:avLst/>
          </a:prstGeom>
          <a:solidFill>
            <a:srgbClr val="2C56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411480" y="240030"/>
            <a:ext cx="8229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A fair comparison: train/test split and cross-validation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411480" y="685800"/>
            <a:ext cx="8229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84" name="Google Shape;84;p15"/>
          <p:cNvSpPr txBox="1"/>
          <p:nvPr/>
        </p:nvSpPr>
        <p:spPr>
          <a:xfrm>
            <a:off x="411480" y="2011680"/>
            <a:ext cx="411480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1. Lock away a test set</a:t>
            </a:r>
            <a:endParaRPr b="1" sz="1300">
              <a:solidFill>
                <a:srgbClr val="2C5697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80% of rows for training, 20% for testing (random_state=42). The test set stays untouched until the very end.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2. Cross-validate on the training set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Split the training data into 5 folds. Train on 4, score on the 5th, repeat 5 times and average the scores.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3. Choose, then test once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Pick the lowest cross-validated RMSE, then report its test score as the honest estimate.</a:t>
            </a:r>
          </a:p>
        </p:txBody>
      </p:sp>
      <p:sp>
        <p:nvSpPr>
          <p:cNvPr id="85" name="Google Shape;85;p15"/>
          <p:cNvSpPr txBox="1"/>
          <p:nvPr/>
        </p:nvSpPr>
        <p:spPr>
          <a:xfrm>
            <a:off x="411475" y="1047375"/>
            <a:ext cx="6953100" cy="793800"/>
          </a:xfrm>
          <a:prstGeom prst="rect">
            <a:avLst/>
          </a:prstGeom>
          <a:solidFill>
            <a:srgbClr val="1B2A4A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80000" spcFirstLastPara="1" rIns="180000" wrap="square" tIns="1800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Never choose a model by its test-set score. Once you use the test set to decide, it is no longer "unseen" data.</a:t>
            </a:r>
            <a:endParaRPr i="1" sz="13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4800600" y="2057400"/>
            <a:ext cx="3017520" cy="329184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Training data (80%)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72983" y="2057400"/>
            <a:ext cx="822960" cy="329184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Test (20%)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00600" y="2496312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5-fold cross-validation on the training data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00600" y="2807208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Fold 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04104" y="2807208"/>
            <a:ext cx="548640" cy="256032"/>
          </a:xfrm>
          <a:prstGeom prst="rect">
            <a:avLst/>
          </a:prstGeom>
          <a:solidFill>
            <a:srgbClr val="2C5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007608" y="2807208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611112" y="2807208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214616" y="2807208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818120" y="2807208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800600" y="3136391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Fold 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404104" y="3136391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07608" y="3136391"/>
            <a:ext cx="548640" cy="256032"/>
          </a:xfrm>
          <a:prstGeom prst="rect">
            <a:avLst/>
          </a:prstGeom>
          <a:solidFill>
            <a:srgbClr val="2C5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611112" y="3136391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214616" y="3136391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818120" y="3136391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800600" y="3465576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Fold 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04104" y="3465576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07608" y="3465576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611112" y="3465576"/>
            <a:ext cx="548640" cy="256032"/>
          </a:xfrm>
          <a:prstGeom prst="rect">
            <a:avLst/>
          </a:prstGeom>
          <a:solidFill>
            <a:srgbClr val="2C5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214616" y="3465576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818120" y="3465576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800600" y="3794760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Fold 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04104" y="3794760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007608" y="3794760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611112" y="3794760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214616" y="3794760"/>
            <a:ext cx="548640" cy="256032"/>
          </a:xfrm>
          <a:prstGeom prst="rect">
            <a:avLst/>
          </a:prstGeom>
          <a:solidFill>
            <a:srgbClr val="2C5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818120" y="3794760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800600" y="4123944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Fold 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04104" y="4123944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007608" y="4123944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611112" y="4123944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214616" y="4123944"/>
            <a:ext cx="548640" cy="25603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818120" y="4123944"/>
            <a:ext cx="548640" cy="256032"/>
          </a:xfrm>
          <a:prstGeom prst="rect">
            <a:avLst/>
          </a:prstGeom>
          <a:solidFill>
            <a:srgbClr val="2C5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04104" y="4553712"/>
            <a:ext cx="164592" cy="164592"/>
          </a:xfrm>
          <a:prstGeom prst="rect">
            <a:avLst/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632704" y="4526279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Train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592824" y="4553712"/>
            <a:ext cx="164592" cy="164592"/>
          </a:xfrm>
          <a:prstGeom prst="rect">
            <a:avLst/>
          </a:prstGeom>
          <a:solidFill>
            <a:srgbClr val="2C5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21424" y="4526279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Validate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idx="4294967295" type="title"/>
          </p:nvPr>
        </p:nvSpPr>
        <p:spPr>
          <a:xfrm>
            <a:off x="376550" y="147875"/>
            <a:ext cx="8310000" cy="7599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Dataset: HDB resale prices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6" name="Google Shape;106;p18"/>
          <p:cNvSpPr txBox="1"/>
          <p:nvPr/>
        </p:nvSpPr>
        <p:spPr>
          <a:xfrm>
            <a:off x="457200" y="2286000"/>
            <a:ext cx="82296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2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File:  </a:t>
            </a:r>
            <a:r>
              <a:rPr sz="1200" b="0" i="0">
                <a:solidFill>
                  <a:srgbClr val="1F1F1F"/>
                </a:solidFill>
                <a:latin typeface="Consolas"/>
                <a:ea typeface="Consolas"/>
                <a:cs typeface="Consolas"/>
              </a:rPr>
              <a:t>data/hdb_resale_2017_2019.csv</a:t>
            </a: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, a copy of </a:t>
            </a:r>
            <a:r>
              <a:rPr sz="1200" b="0" i="0">
                <a:solidFill>
                  <a:srgbClr val="2C5697"/>
                </a:solidFill>
                <a:latin typeface="Open Sans"/>
                <a:ea typeface="Open Sans"/>
                <a:cs typeface="Open Sans"/>
                <a:hlinkClick r:id="rId4"/>
              </a:rPr>
              <a:t>data.gov.sg</a:t>
            </a: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 resale data kept in the repo, so the lesson works offline.</a:t>
            </a:r>
            <a:endParaRPr b="1"/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Features:  </a:t>
            </a:r>
            <a:r>
              <a:rPr sz="1200" b="0" i="0">
                <a:solidFill>
                  <a:srgbClr val="1F1F1F"/>
                </a:solidFill>
                <a:latin typeface="Consolas"/>
                <a:ea typeface="Consolas"/>
                <a:cs typeface="Consolas"/>
              </a:rPr>
              <a:t>town · flat_type · floor_area_sqm · storey (from storey_range) · lease_commence_date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Target:  </a:t>
            </a:r>
            <a:r>
              <a:rPr sz="1200" b="0" i="0">
                <a:solidFill>
                  <a:srgbClr val="1F1F1F"/>
                </a:solidFill>
                <a:latin typeface="Consolas"/>
                <a:ea typeface="Consolas"/>
                <a:cs typeface="Consolas"/>
              </a:rPr>
              <a:t>resale_price</a:t>
            </a: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 (S$)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Not used:  </a:t>
            </a: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month (prices were fairly flat over this period), block and street_name (too many values), remaining_lease (repeats lease_commence_date).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C8102E"/>
                </a:solidFill>
                <a:latin typeface="Open Sans"/>
                <a:ea typeface="Open Sans"/>
                <a:cs typeface="Open Sans"/>
              </a:rPr>
              <a:t>Prices reflect the 2017 to 2019 market, not today's prices.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57200" y="100584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50,432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resale transactions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268980" y="100584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2017 – 2019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Jan 2017 to May 2019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080760" y="1005840"/>
            <a:ext cx="2606040" cy="105156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26 towns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and 7 flat types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0" y="0"/>
            <a:ext cx="9143700" cy="109800"/>
          </a:xfrm>
          <a:prstGeom prst="rect">
            <a:avLst/>
          </a:prstGeom>
          <a:solidFill>
            <a:srgbClr val="2C56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411480" y="240030"/>
            <a:ext cx="8229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Preparing features: from raw columns to model inputs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411480" y="685800"/>
            <a:ext cx="8229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84" name="Google Shape;84;p15"/>
          <p:cNvSpPr txBox="1"/>
          <p:nvPr/>
        </p:nvSpPr>
        <p:spPr>
          <a:xfrm>
            <a:off x="411480" y="1965960"/>
            <a:ext cx="411480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storey_range becomes storey</a:t>
            </a:r>
            <a:endParaRPr b="1" sz="1300">
              <a:solidFill>
                <a:srgbClr val="2C5697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"10 TO 12" becomes 11.0, the midpoint of the band.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One-hot encoding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Each town or flat type becomes its own 0/1 column. 5 raw columns become 36 model inputs.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Pipeline = encoder + model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Fitted on training data only (no leakage) and saved as one file.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hdb_features.py is shared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model.py and app.py import the same code, so features are built identically in training and in the app.</a:t>
            </a:r>
          </a:p>
        </p:txBody>
      </p:sp>
      <p:sp>
        <p:nvSpPr>
          <p:cNvPr id="85" name="Google Shape;85;p15"/>
          <p:cNvSpPr txBox="1"/>
          <p:nvPr/>
        </p:nvSpPr>
        <p:spPr>
          <a:xfrm>
            <a:off x="411475" y="1047375"/>
            <a:ext cx="6953100" cy="793800"/>
          </a:xfrm>
          <a:prstGeom prst="rect">
            <a:avLst/>
          </a:prstGeom>
          <a:solidFill>
            <a:srgbClr val="1B2A4A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80000" spcFirstLastPara="1" rIns="180000" wrap="square" tIns="1800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Models need numbers. We convert text to numbers inside a scikit-learn Pipeline, so the app can pass in raw values such as "BISHAN".</a:t>
            </a:r>
            <a:endParaRPr i="1" sz="13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846320" y="20116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One-hot encoding of town</a:t>
            </a:r>
          </a:p>
        </p:txBody>
      </p:sp>
      <p:graphicFrame>
        <p:nvGraphicFramePr>
          <p:cNvPr id="87" name="Table 86"/>
          <p:cNvGraphicFramePr>
            <a:graphicFrameLocks noGrp="1"/>
          </p:cNvGraphicFramePr>
          <p:nvPr/>
        </p:nvGraphicFramePr>
        <p:xfrm>
          <a:off x="4846320" y="2286000"/>
          <a:ext cx="3840480" cy="1097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22960"/>
                <a:gridCol w="1005840"/>
                <a:gridCol w="100584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2A4A"/>
                          </a:solidFill>
                          <a:latin typeface="Consolas"/>
                          <a:ea typeface="Consolas"/>
                          <a:cs typeface="Consolas"/>
                        </a:rPr>
                        <a:t>town</a:t>
                      </a:r>
                    </a:p>
                  </a:txBody>
                  <a:tcPr marL="36576" marR="3657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2A4A"/>
                          </a:solidFill>
                          <a:latin typeface="Consolas"/>
                          <a:ea typeface="Consolas"/>
                          <a:cs typeface="Consolas"/>
                        </a:rPr>
                        <a:t>town_BEDOK</a:t>
                      </a:r>
                    </a:p>
                  </a:txBody>
                  <a:tcPr marL="36576" marR="3657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2A4A"/>
                          </a:solidFill>
                          <a:latin typeface="Consolas"/>
                          <a:ea typeface="Consolas"/>
                          <a:cs typeface="Consolas"/>
                        </a:rPr>
                        <a:t>town_BISHAN</a:t>
                      </a:r>
                    </a:p>
                  </a:txBody>
                  <a:tcPr marL="36576" marR="36576" marT="27432" marB="27432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2A4A"/>
                          </a:solidFill>
                          <a:latin typeface="Consolas"/>
                          <a:ea typeface="Consolas"/>
                          <a:cs typeface="Consolas"/>
                        </a:rPr>
                        <a:t>town_YISHUN</a:t>
                      </a:r>
                    </a:p>
                  </a:txBody>
                  <a:tcPr marL="36576" marR="36576" marT="27432" marB="27432" anchor="ctr">
                    <a:solidFill>
                      <a:srgbClr val="E8EE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Consolas"/>
                          <a:ea typeface="Consolas"/>
                          <a:cs typeface="Consolas"/>
                        </a:rPr>
                        <a:t>BISHAN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1</a:t>
                      </a:r>
                    </a:p>
                  </a:txBody>
                  <a:tcPr marL="36576" marR="36576" marT="27432" marB="27432" anchor="ctr">
                    <a:solidFill>
                      <a:srgbClr val="2C56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Consolas"/>
                          <a:ea typeface="Consolas"/>
                          <a:cs typeface="Consolas"/>
                        </a:rPr>
                        <a:t>YISHUN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1</a:t>
                      </a:r>
                    </a:p>
                  </a:txBody>
                  <a:tcPr marL="36576" marR="36576" marT="27432" marB="27432" anchor="ctr">
                    <a:solidFill>
                      <a:srgbClr val="2C569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F1F1F"/>
                          </a:solidFill>
                          <a:latin typeface="Consolas"/>
                          <a:ea typeface="Consolas"/>
                          <a:cs typeface="Consolas"/>
                        </a:rPr>
                        <a:t>BEDOK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1</a:t>
                      </a:r>
                    </a:p>
                  </a:txBody>
                  <a:tcPr marL="36576" marR="36576" marT="27432" marB="27432" anchor="ctr">
                    <a:solidFill>
                      <a:srgbClr val="2C56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 marL="36576" marR="3657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8" name="TextBox 87"/>
          <p:cNvSpPr txBox="1"/>
          <p:nvPr/>
        </p:nvSpPr>
        <p:spPr>
          <a:xfrm>
            <a:off x="4846320" y="36118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The Pipeline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846320" y="388620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C9D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Raw columns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888736" y="4114800"/>
            <a:ext cx="2468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6172200" y="388620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2C5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OneHotEncoder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7534655" y="4114800"/>
            <a:ext cx="246889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7818120" y="388620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Model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9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3" name="Google Shape;113;p19"/>
          <p:cNvSpPr/>
          <p:nvPr/>
        </p:nvSpPr>
        <p:spPr>
          <a:xfrm>
            <a:off x="0" y="0"/>
            <a:ext cx="9143700" cy="51435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114" name="Google Shape;114;p19"/>
          <p:cNvSpPr txBox="1"/>
          <p:nvPr/>
        </p:nvSpPr>
        <p:spPr>
          <a:xfrm>
            <a:off x="258700" y="619100"/>
            <a:ext cx="8766900" cy="3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C8102E"/>
                </a:solidFill>
                <a:latin typeface="Open Sans"/>
                <a:ea typeface="Open Sans"/>
                <a:cs typeface="Open Sans"/>
              </a:rPr>
              <a:t>🟢  CODE-ALONG</a:t>
            </a:r>
            <a:endParaRPr b="1">
              <a:solidFill>
                <a:srgbClr val="C810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Open: </a:t>
            </a:r>
            <a:r>
              <a:rPr sz="2400" b="1" i="0">
                <a:solidFill>
                  <a:srgbClr val="00FF00"/>
                </a:solidFill>
                <a:latin typeface="Consolas"/>
                <a:ea typeface="Consolas"/>
                <a:cs typeface="Consolas"/>
              </a:rPr>
              <a:t>hdb_price_model.ipynb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4F5F7"/>
                </a:solidFill>
                <a:latin typeface="Open Sans"/>
                <a:ea typeface="Open Sans"/>
                <a:cs typeface="Open Sans"/>
              </a:rPr>
              <a:t>What you'll do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Explore the data: price distribution, price by town, flat type and storey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Engineer features and build the one-hot encoding Pipeline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Train Linear Regression, Random Forest and Gradient Boosting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Compare them with 5-fold cross-validation, plus file size and speed</a:t>
            </a:r>
          </a:p>
        </p:txBody>
      </p:sp>
      <p:sp>
        <p:nvSpPr>
          <p:cNvPr id="115" name="Google Shape;115;p19"/>
          <p:cNvSpPr/>
          <p:nvPr/>
        </p:nvSpPr>
        <p:spPr>
          <a:xfrm>
            <a:off x="411475" y="3774200"/>
            <a:ext cx="8450700" cy="6915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6" name="Google Shape;116;p19"/>
          <p:cNvSpPr txBox="1"/>
          <p:nvPr/>
        </p:nvSpPr>
        <p:spPr>
          <a:xfrm>
            <a:off x="603100" y="3795950"/>
            <a:ext cx="80781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Select the hdb_project kernel first. A full run takes about 1 to 2 minutes; cross-validating the tree models is the slowest part.</a:t>
            </a:r>
            <a:endParaRPr b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0" y="0"/>
            <a:ext cx="9143700" cy="109800"/>
          </a:xfrm>
          <a:prstGeom prst="rect">
            <a:avLst/>
          </a:prstGeom>
          <a:solidFill>
            <a:srgbClr val="2C56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411480" y="240030"/>
            <a:ext cx="8229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Results: which model wins?</a:t>
            </a:r>
            <a:endParaRPr sz="1100"/>
          </a:p>
        </p:txBody>
      </p:sp>
      <p:graphicFrame>
        <p:nvGraphicFramePr>
          <p:cNvPr id="100" name="Google Shape;100;p17"/>
          <p:cNvGraphicFramePr/>
          <p:nvPr/>
        </p:nvGraphicFramePr>
        <p:xfrm>
          <a:off x="411480" y="868680"/>
          <a:ext cx="4846319" cy="1517904"/>
        </p:xfrm>
        <a:graphic>
          <a:graphicData uri="http://schemas.openxmlformats.org/drawingml/2006/table">
            <a:tbl>
              <a:tblPr>
                <a:noFill/>
                <a:tableStyleId>{47BE4396-FD88-403D-A040-2A6230E4996D}</a:tableStyleId>
              </a:tblPr>
              <a:tblGrid>
                <a:gridCol w="1874519"/>
                <a:gridCol w="1097280"/>
                <a:gridCol w="86868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>Model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>CV RMSE (S$)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>Test R²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B2A4A"/>
                          </a:solidFill>
                          <a:latin typeface="Open Sans"/>
                          <a:ea typeface="Open Sans"/>
                          <a:cs typeface="Open Sans"/>
                        </a:rPr>
                        <a:t>File size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E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Linear Regression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60,245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0.848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&lt; 0.1 MB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Random Forest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36,661</a:t>
                      </a:r>
                      <a:endParaRPr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0.947</a:t>
                      </a:r>
                      <a:endParaRPr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~26 MB</a:t>
                      </a:r>
                      <a:endParaRPr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Gradient Boosting</a:t>
                      </a:r>
                      <a:endParaRPr b="1"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36,121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0.947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ECE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1" i="0">
                          <a:solidFill>
                            <a:srgbClr val="1F1F1F"/>
                          </a:solidFill>
                          <a:latin typeface="Open Sans"/>
                          <a:ea typeface="Open Sans"/>
                          <a:cs typeface="Open Sans"/>
                        </a:rPr>
                        <a:t>~0.7 MB</a:t>
                      </a:r>
                      <a:endParaRPr sz="1100"/>
                    </a:p>
                  </a:txBody>
                  <a:tcPr marT="54864" marB="54864" marR="82296" marL="82296" anchor="ctr">
                    <a:lnL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650">
                      <a:solidFill>
                        <a:srgbClr val="C4C7C5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DEC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411480" y="2651760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Tree models cut the error by about 40%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Price depends on the features in curved, interacting ways that a straight line cannot capture.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Features mattered even more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The original project used Linear Regression on 3 numeric columns only: R² ≈ 0.54. Adding town and flat type lifted it to 0.85.</a:t>
            </a:r>
          </a:p>
        </p:txBody>
      </p:sp>
      <p:graphicFrame>
        <p:nvGraphicFramePr>
          <p:cNvPr id="102" name="Chart 101"/>
          <p:cNvGraphicFramePr>
            <a:graphicFrameLocks noGrp="1"/>
          </p:cNvGraphicFramePr>
          <p:nvPr/>
        </p:nvGraphicFramePr>
        <p:xfrm>
          <a:off x="5440680" y="822960"/>
          <a:ext cx="3337560" cy="3657600"/>
        </p:xfrm>
        <a:graphic>
          <a:graphicData uri="http://schemas.openxmlformats.org/drawingml/2006/chart">
            <c:chart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0" y="0"/>
            <a:ext cx="9143700" cy="109800"/>
          </a:xfrm>
          <a:prstGeom prst="rect">
            <a:avLst/>
          </a:prstGeom>
          <a:solidFill>
            <a:srgbClr val="2C569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2" name="Google Shape;82;p15"/>
          <p:cNvSpPr txBox="1"/>
          <p:nvPr/>
        </p:nvSpPr>
        <p:spPr>
          <a:xfrm>
            <a:off x="411480" y="240030"/>
            <a:ext cx="8229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Choosing the model to deploy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411480" y="685800"/>
            <a:ext cx="8229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84" name="Google Shape;84;p15"/>
          <p:cNvSpPr txBox="1"/>
          <p:nvPr/>
        </p:nvSpPr>
        <p:spPr>
          <a:xfrm>
            <a:off x="411480" y="1920240"/>
            <a:ext cx="475488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Accuracy</a:t>
            </a:r>
            <a:endParaRPr b="1" sz="1300">
              <a:solidFill>
                <a:srgbClr val="2C5697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Gradient Boosting and Random Forest tie on test R² (0.947). Gradient Boosting has the lower CV RMSE.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Size and speed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A 0.7 MB file is quick to push to GitHub and load in the app. The Random Forest is about 26 MB.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Plot twist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Random Forest has a slightly lower test MAE (S$25.1k vs S$26.2k). We still choose by CV, not by peeking at the test set.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C5697"/>
                </a:solidFill>
                <a:latin typeface="Open Sans"/>
                <a:ea typeface="Open Sans"/>
                <a:cs typeface="Open Sans"/>
              </a:rPr>
              <a:t>When would you pick Linear Regression?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1F1F1F"/>
                </a:solidFill>
                <a:latin typeface="Open Sans"/>
                <a:ea typeface="Open Sans"/>
                <a:cs typeface="Open Sans"/>
              </a:rPr>
              <a:t>When you must explain every dollar to a stakeholder, or you have very little data.</a:t>
            </a:r>
          </a:p>
        </p:txBody>
      </p:sp>
      <p:sp>
        <p:nvSpPr>
          <p:cNvPr id="85" name="Google Shape;85;p15"/>
          <p:cNvSpPr txBox="1"/>
          <p:nvPr/>
        </p:nvSpPr>
        <p:spPr>
          <a:xfrm>
            <a:off x="411475" y="1047375"/>
            <a:ext cx="6953100" cy="793800"/>
          </a:xfrm>
          <a:prstGeom prst="rect">
            <a:avLst/>
          </a:prstGeom>
          <a:solidFill>
            <a:srgbClr val="1B2A4A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80000" lIns="180000" spcFirstLastPara="1" rIns="180000" wrap="square" tIns="1800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Rule: deploy the model with the lowest cross-validated RMSE. That is Gradient Boosting (S$36,121).</a:t>
            </a:r>
            <a:endParaRPr i="1" sz="13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5532120" y="2057400"/>
            <a:ext cx="3154680" cy="118872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C8102E"/>
                </a:solidFill>
                <a:latin typeface="Open Sans"/>
                <a:ea typeface="Open Sans"/>
                <a:cs typeface="Open Sans"/>
              </a:rPr>
              <a:t>35×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smaller file than the Random Forest (0.7 MB vs 26 MB)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532120" y="3429000"/>
            <a:ext cx="3154680" cy="1188720"/>
          </a:xfrm>
          <a:prstGeom prst="roundRect">
            <a:avLst>
              <a:gd name="adj" fmla="val 12000"/>
            </a:avLst>
          </a:prstGeom>
          <a:solidFill>
            <a:srgbClr val="E8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B2A4A"/>
                </a:solidFill>
                <a:latin typeface="Open Sans"/>
                <a:ea typeface="Open Sans"/>
                <a:cs typeface="Open Sans"/>
              </a:rPr>
              <a:t>± S$26k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F6368"/>
                </a:solidFill>
                <a:latin typeface="Open Sans"/>
                <a:ea typeface="Open Sans"/>
                <a:cs typeface="Open Sans"/>
              </a:rPr>
              <a:t>typical error (test MAE), shown in the app as a price range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9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3" name="Google Shape;113;p19"/>
          <p:cNvSpPr/>
          <p:nvPr/>
        </p:nvSpPr>
        <p:spPr>
          <a:xfrm>
            <a:off x="0" y="0"/>
            <a:ext cx="9143700" cy="51435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114" name="Google Shape;114;p19"/>
          <p:cNvSpPr txBox="1"/>
          <p:nvPr/>
        </p:nvSpPr>
        <p:spPr>
          <a:xfrm>
            <a:off x="258700" y="619100"/>
            <a:ext cx="8766900" cy="3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C8102E"/>
                </a:solidFill>
                <a:latin typeface="Open Sans"/>
                <a:ea typeface="Open Sans"/>
                <a:cs typeface="Open Sans"/>
              </a:rPr>
              <a:t>🟢  CODE-ALONG</a:t>
            </a:r>
            <a:endParaRPr b="1">
              <a:solidFill>
                <a:srgbClr val="C810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Open: </a:t>
            </a:r>
            <a:r>
              <a:rPr sz="2400" b="1" i="0">
                <a:solidFill>
                  <a:srgbClr val="00FF00"/>
                </a:solidFill>
                <a:latin typeface="Consolas"/>
                <a:ea typeface="Consolas"/>
                <a:cs typeface="Consolas"/>
              </a:rPr>
              <a:t>model.py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4F5F7"/>
                </a:solidFill>
                <a:latin typeface="Open Sans"/>
                <a:ea typeface="Open Sans"/>
                <a:cs typeface="Open Sans"/>
              </a:rPr>
              <a:t>What you'll do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Load the data and add the storey feature (from hdb_features.py)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Train all 3 Pipelines and score each with 5-fold cross-validation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Save the winner to models/hdb_price_model.joblib, plus models/model_card.json</a:t>
            </a:r>
          </a:p>
        </p:txBody>
      </p:sp>
      <p:sp>
        <p:nvSpPr>
          <p:cNvPr id="115" name="Google Shape;115;p19"/>
          <p:cNvSpPr/>
          <p:nvPr/>
        </p:nvSpPr>
        <p:spPr>
          <a:xfrm>
            <a:off x="411475" y="3774200"/>
            <a:ext cx="8450700" cy="6915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6" name="Google Shape;116;p19"/>
          <p:cNvSpPr txBox="1"/>
          <p:nvPr/>
        </p:nvSpPr>
        <p:spPr>
          <a:xfrm>
            <a:off x="603100" y="3795950"/>
            <a:ext cx="80781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requirements.txt pins exact versions (e.g. scikit-learn==1.9.1). The cloud must load the model with the same versions you trained with.</a:t>
            </a:r>
            <a:endParaRPr b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3" name="Google Shape;123;p20"/>
          <p:cNvSpPr/>
          <p:nvPr/>
        </p:nvSpPr>
        <p:spPr>
          <a:xfrm>
            <a:off x="0" y="0"/>
            <a:ext cx="9143700" cy="51435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4" name="Google Shape;124;p20"/>
          <p:cNvSpPr txBox="1"/>
          <p:nvPr/>
        </p:nvSpPr>
        <p:spPr>
          <a:xfrm>
            <a:off x="258700" y="619100"/>
            <a:ext cx="8766900" cy="3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C8102E"/>
                </a:solidFill>
                <a:latin typeface="Open Sans"/>
                <a:ea typeface="Open Sans"/>
                <a:cs typeface="Open Sans"/>
              </a:rPr>
              <a:t>🟢  CODE-ALONG</a:t>
            </a:r>
            <a:endParaRPr b="1">
              <a:solidFill>
                <a:srgbClr val="C810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Open: </a:t>
            </a:r>
            <a:r>
              <a:rPr sz="2400" b="1" i="0">
                <a:solidFill>
                  <a:srgbClr val="00FF00"/>
                </a:solidFill>
                <a:latin typeface="Consolas"/>
                <a:ea typeface="Consolas"/>
                <a:cs typeface="Consolas"/>
              </a:rPr>
              <a:t>app.py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4F5F7"/>
                </a:solidFill>
                <a:latin typeface="Open Sans"/>
                <a:ea typeface="Open Sans"/>
                <a:cs typeface="Open Sans"/>
              </a:rPr>
              <a:t>What you'll do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Load the saved model and model_card.json (cached with st.cache_resource)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Build the form: town and flat type dropdowns; sliders for size, storey and lease year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Make a one-row DataFrame with the same columns as training, then call model.predict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Show the price with a likely range, plus a Model comparison tab</a:t>
            </a:r>
          </a:p>
          <a:p>
            <a:pPr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 i="0">
                <a:solidFill>
                  <a:srgbClr val="F4F5F7"/>
                </a:solidFill>
                <a:latin typeface="Open Sans"/>
                <a:ea typeface="Open Sans"/>
                <a:cs typeface="Open Sans"/>
              </a:rPr>
              <a:t>Run:  </a:t>
            </a:r>
            <a:r>
              <a:rPr sz="1600" b="1" i="0">
                <a:solidFill>
                  <a:srgbClr val="00FF00"/>
                </a:solidFill>
                <a:latin typeface="Consolas"/>
                <a:ea typeface="Consolas"/>
                <a:cs typeface="Consolas"/>
              </a:rPr>
              <a:t>streamlit run app.py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1" name="Google Shape;131;p21"/>
          <p:cNvSpPr/>
          <p:nvPr/>
        </p:nvSpPr>
        <p:spPr>
          <a:xfrm>
            <a:off x="0" y="0"/>
            <a:ext cx="9143700" cy="51435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2" name="Google Shape;132;p21"/>
          <p:cNvSpPr txBox="1"/>
          <p:nvPr/>
        </p:nvSpPr>
        <p:spPr>
          <a:xfrm>
            <a:off x="258700" y="619100"/>
            <a:ext cx="8766900" cy="37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C8102E"/>
                </a:solidFill>
                <a:latin typeface="Open Sans"/>
                <a:ea typeface="Open Sans"/>
                <a:cs typeface="Open Sans"/>
              </a:rPr>
              <a:t>🟢  CODE-ALONG</a:t>
            </a:r>
            <a:endParaRPr b="1">
              <a:solidFill>
                <a:srgbClr val="C810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Deploy the app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4F5F7"/>
                </a:solidFill>
                <a:latin typeface="Open Sans"/>
                <a:ea typeface="Open Sans"/>
                <a:cs typeface="Open Sans"/>
              </a:rPr>
              <a:t>What you'll do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Commit and push your code </a:t>
            </a:r>
            <a:r>
              <a:rPr sz="1300" b="1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and the models/ folder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to your GitHub fork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Log in at </a:t>
            </a:r>
            <a:r>
              <a:rPr sz="1300" b="1" i="0">
                <a:solidFill>
                  <a:srgbClr val="00FF00"/>
                </a:solidFill>
                <a:latin typeface="Open Sans"/>
                <a:ea typeface="Open Sans"/>
                <a:cs typeface="Open Sans"/>
              </a:rPr>
              <a:t>share.streamlit.io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with GitHub, then click Create app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Repository: your fork  ·  Branch: main  ·  Main file path: app.py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Advanced settings: Python 3.12 (same as you trained with), then Deploy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Share your unique URL. Full steps in </a:t>
            </a:r>
            <a:r>
              <a:rPr sz="1300" b="1" i="0">
                <a:solidFill>
                  <a:srgbClr val="00FF00"/>
                </a:solidFill>
                <a:latin typeface="Open Sans"/>
                <a:ea typeface="Open Sans"/>
                <a:cs typeface="Open Sans"/>
              </a:rPr>
              <a:t>setup.md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/>
          <p:nvPr/>
        </p:nvSpPr>
        <p:spPr>
          <a:xfrm>
            <a:off x="0" y="5088636"/>
            <a:ext cx="9143700" cy="54900"/>
          </a:xfrm>
          <a:prstGeom prst="rect">
            <a:avLst/>
          </a:prstGeom>
          <a:solidFill>
            <a:srgbClr val="C8102E"/>
          </a:solidFill>
          <a:ln cap="flat" cmpd="sng" w="952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3" name="Google Shape;123;p20"/>
          <p:cNvSpPr/>
          <p:nvPr/>
        </p:nvSpPr>
        <p:spPr>
          <a:xfrm>
            <a:off x="0" y="0"/>
            <a:ext cx="9143700" cy="51435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4" name="Google Shape;124;p20"/>
          <p:cNvSpPr txBox="1"/>
          <p:nvPr/>
        </p:nvSpPr>
        <p:spPr>
          <a:xfrm>
            <a:off x="258700" y="619100"/>
            <a:ext cx="8766900" cy="3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C8102E"/>
                </a:solidFill>
                <a:latin typeface="Open Sans"/>
                <a:ea typeface="Open Sans"/>
                <a:cs typeface="Open Sans"/>
              </a:rPr>
              <a:t>🧪  YOUR TURN</a:t>
            </a:r>
            <a:endParaRPr b="1">
              <a:solidFill>
                <a:srgbClr val="C8102E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Exercises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4F5F7"/>
                </a:solidFill>
                <a:latin typeface="Open Sans"/>
                <a:ea typeface="Open Sans"/>
                <a:cs typeface="Open Sans"/>
              </a:rPr>
              <a:t>What you'll do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Add flat_model as a feature. Does CV RMSE improve? What must change in app.py?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Shrink the Random Forest (n_estimators=50, min_samples_leaf=5). Accuracy vs file size?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Gradient Boosting with learning_rate=0.05 and n_estimators=1000: worth the extra time?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Retrain on the latest data from data.gov.sg. How much have prices changed since 2019?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5.  </a:t>
            </a:r>
            <a:r>
              <a:rPr sz="1300" b="0" i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Explain your app's accuracy to a non-technical user in two sentences.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TU SCTP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