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22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7" r:id="rId9"/>
    <p:sldId id="271" r:id="rId10"/>
    <p:sldId id="272" r:id="rId11"/>
    <p:sldId id="268" r:id="rId12"/>
    <p:sldId id="262" r:id="rId13"/>
    <p:sldId id="269" r:id="rId14"/>
    <p:sldId id="274" r:id="rId15"/>
    <p:sldId id="273" r:id="rId16"/>
    <p:sldId id="270" r:id="rId17"/>
    <p:sldId id="263" r:id="rId18"/>
    <p:sldId id="264" r:id="rId19"/>
    <p:sldId id="265" r:id="rId20"/>
    <p:sldId id="275" r:id="rId2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Open Sans Light" panose="020B0306030504020204" pitchFamily="34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59">
          <p15:clr>
            <a:srgbClr val="747775"/>
          </p15:clr>
        </p15:guide>
        <p15:guide id="2" pos="5522">
          <p15:clr>
            <a:srgbClr val="747775"/>
          </p15:clr>
        </p15:guide>
        <p15:guide id="3" orient="horz" pos="764">
          <p15:clr>
            <a:srgbClr val="747775"/>
          </p15:clr>
        </p15:guide>
        <p15:guide id="4" orient="horz" pos="2478">
          <p15:clr>
            <a:srgbClr val="747775"/>
          </p15:clr>
        </p15:guide>
        <p15:guide id="5" orient="horz" pos="2615">
          <p15:clr>
            <a:srgbClr val="747775"/>
          </p15:clr>
        </p15:guide>
        <p15:guide id="6" orient="horz" pos="3023">
          <p15:clr>
            <a:srgbClr val="747775"/>
          </p15:clr>
        </p15:guide>
        <p15:guide id="7" pos="1813">
          <p15:clr>
            <a:srgbClr val="747775"/>
          </p15:clr>
        </p15:guide>
        <p15:guide id="8" pos="1950">
          <p15:clr>
            <a:srgbClr val="747775"/>
          </p15:clr>
        </p15:guide>
        <p15:guide id="9" pos="3652">
          <p15:clr>
            <a:srgbClr val="747775"/>
          </p15:clr>
        </p15:guide>
        <p15:guide id="10" pos="3794">
          <p15:clr>
            <a:srgbClr val="747775"/>
          </p15:clr>
        </p15:guide>
        <p15:guide id="11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BE4396-FD88-403D-A040-2A6230E4996D}">
  <a:tblStyle styleId="{47BE4396-FD88-403D-A040-2A6230E499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7"/>
  </p:normalViewPr>
  <p:slideViewPr>
    <p:cSldViewPr snapToGrid="0">
      <p:cViewPr varScale="1">
        <p:scale>
          <a:sx n="197" d="100"/>
          <a:sy n="197" d="100"/>
        </p:scale>
        <p:origin x="216" y="1288"/>
      </p:cViewPr>
      <p:guideLst>
        <p:guide pos="259"/>
        <p:guide pos="5522"/>
        <p:guide orient="horz" pos="764"/>
        <p:guide orient="horz" pos="2478"/>
        <p:guide orient="horz" pos="2615"/>
        <p:guide orient="horz" pos="3023"/>
        <p:guide pos="1813"/>
        <p:guide pos="1950"/>
        <p:guide pos="3652"/>
        <p:guide pos="379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B2A4A"/>
                </a:solidFill>
              </a:rPr>
              <a:t>CV RMSE (S$), lower is better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CV RMSE (S$)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AA0A6"/>
              </a:solidFill>
            </c:spPr>
            <c:extLst>
              <c:ext xmlns:c16="http://schemas.microsoft.com/office/drawing/2014/chart" uri="{C3380CC4-5D6E-409C-BE32-E72D297353CC}">
                <c16:uniqueId val="{00000001-DA8E-F849-9CC5-49E753C51E85}"/>
              </c:ext>
            </c:extLst>
          </c:dPt>
          <c:dPt>
            <c:idx val="1"/>
            <c:invertIfNegative val="1"/>
            <c:bubble3D val="0"/>
            <c:spPr>
              <a:solidFill>
                <a:srgbClr val="2C5697"/>
              </a:solidFill>
            </c:spPr>
            <c:extLst>
              <c:ext xmlns:c16="http://schemas.microsoft.com/office/drawing/2014/chart" uri="{C3380CC4-5D6E-409C-BE32-E72D297353CC}">
                <c16:uniqueId val="{00000003-DA8E-F849-9CC5-49E753C51E85}"/>
              </c:ext>
            </c:extLst>
          </c:dPt>
          <c:dPt>
            <c:idx val="2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5-DA8E-F849-9CC5-49E753C51E8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60245</c:v>
                </c:pt>
                <c:pt idx="1">
                  <c:v>36661</c:v>
                </c:pt>
                <c:pt idx="2">
                  <c:v>36121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8E-F849-9CC5-49E753C51E8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9AA0A6"/>
            </a:solidFill>
          </a:ln>
        </c:spPr>
        <c:txPr>
          <a:bodyPr/>
          <a:lstStyle/>
          <a:p>
            <a:pPr>
              <a:defRPr sz="1000">
                <a:solidFill>
                  <a:srgbClr val="1F1F1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t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45d6ec7d82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45d6ec7d82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Welcome. Today we build a machine learning model that predicts HDB resale prices, compare three algorithms, and deploy the best one as a web app.</a:t>
            </a:r>
          </a:p>
        </p:txBody>
      </p:sp>
      <p:sp>
        <p:nvSpPr>
          <p:cNvPr id="51" name="Google Shape;51;g345d6ec7d82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5d6ec7d82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Module C3.1. Repo: https://github.com/flexfengfeng/6m-data-c3.2-HDB_price_predictor</a:t>
            </a:r>
          </a:p>
        </p:txBody>
      </p:sp>
      <p:sp>
        <p:nvSpPr>
          <p:cNvPr id="62" name="Google Shape;62;g345d6ec7d82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eb2d9e8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3eeb2d9e87c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Learners fork the repo, work through the notebook, run model.py to train and pick the best model, then deploy app.py on Streamlit Community Cloud.</a:t>
            </a:r>
          </a:p>
        </p:txBody>
      </p:sp>
      <p:sp>
        <p:nvSpPr>
          <p:cNvPr id="68" name="Google Shape;68;g3eeb2d9e87c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six stops. Emphasise that the point is not just to train one model, but to compare several fairly and justify which one we deploy.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eb2d9e87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g3eeb2d9e87c_0_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Coefficients come from the notebook, Part 5 (floor_area_sqm ≈ 3,771, storey ≈ 4,790). Ask: does an extra sqm really add the same dollars in every town?</a:t>
            </a:r>
          </a:p>
        </p:txBody>
      </p:sp>
      <p:sp>
        <p:nvSpPr>
          <p:cNvPr id="78" name="Google Shape;78;g3eeb2d9e87c_0_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140bf9105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140bf9105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Line of best fit: the model chooses b0 and b1 to minimise the squared vertical distances (errors) between the points and the line.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ec6a1ea8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g3eec6a1ea80_0_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Quick recap: regression predicts a number, classification predicts a category. HDB price is a number, so all three of today's models are regressors.</a:t>
            </a:r>
          </a:p>
        </p:txBody>
      </p:sp>
      <p:sp>
        <p:nvSpPr>
          <p:cNvPr id="95" name="Google Shape;95;g3eec6a1ea80_0_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tree on the right is illustrative, not our trained model. Point out how the second question depends on the first: that is an interaction a linear model cannot learn.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Random Forest = many independent trees averaged (bagging). Gradient Boosting = trees built in sequence, each correcting the last (boosting). All three are wrapped in the same Pipeline.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Baseline numbers come from the DummyRegressor cell in the notebook (Part 4.4). RMSE is in the same units as price but punishes large errors, which matter for expensive flats.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model.py uses KFold(n_splits=5, shuffle=True, random_state=42) and cross_validate. The test set is used exactly once, after the model is chosen.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da3fae0e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da3fae0e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Each row is one resale transaction. load_data() in hdb_features.py reads the local CSV and falls back to the original URL if the file is missing.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hdb_features.py: storey_midpoint() and add_features(). In the notebook, Part 4.2 prints the 36 encoded column names. handle_unknown='ignore' stops the app crashing on an unseen category.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Setup: conda create --name hdb_project python=3.12, then pip install -r requirements-dev.txt. Pause at the discussion questions at the end of Part 8.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Numbers come straight from python model.py (also in README.md and models/model_card.json). Gradient Boosting is highlighted because it is the deployed model.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Discussion: accuracy is only one criterion. For a web app, file size, prediction speed and explainability also matter. model.py applies the CV RMSE rule automatically.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ec6a1ea80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g3eec6a1ea80_0_69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Run: python model.py (about 1 minute). It prints the comparison table and the chosen model. model_card.json stores every model's scores plus the towns, flat types and ranges the app needs.</a:t>
            </a:r>
          </a:p>
        </p:txBody>
      </p:sp>
      <p:sp>
        <p:nvSpPr>
          <p:cNvPr id="110" name="Google Shape;110;g3eec6a1ea80_0_6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da3fae0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g3eda3fae0ea_0_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Key idea: column names and order must match training (FEATURES from hdb_features.py). The app opens at http://localhost:8501.</a:t>
            </a:r>
          </a:p>
        </p:txBody>
      </p:sp>
      <p:sp>
        <p:nvSpPr>
          <p:cNvPr id="120" name="Google Shape;120;g3eda3fae0ea_0_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a3fae0e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eda3fae0ea_0_3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Common failure: forgetting to push models/hdb_price_model.joblib and model_card.json. The app then shows 'No trained model found'. Troubleshooting table is in setup.md.</a:t>
            </a:r>
          </a:p>
        </p:txBody>
      </p:sp>
      <p:sp>
        <p:nvSpPr>
          <p:cNvPr id="128" name="Google Shape;128;g3eda3fae0ea_0_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match the exercises at the end of hdb_price_model.ipynb. Exercise 4 needs the month column as a feature, or training on recent months only.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175125" y="4616075"/>
            <a:ext cx="85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76550" y="147875"/>
            <a:ext cx="83100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76850" y="987925"/>
            <a:ext cx="8310000" cy="3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175125" y="4616075"/>
            <a:ext cx="85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/3 Content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3191700" cy="49278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175125" y="4616075"/>
            <a:ext cx="85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277025" y="344075"/>
            <a:ext cx="2914800" cy="913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204500" y="1423350"/>
            <a:ext cx="2987100" cy="3322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3345900" y="412575"/>
            <a:ext cx="5537400" cy="4418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68300">
              <a:spcBef>
                <a:spcPts val="100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30200">
              <a:spcBef>
                <a:spcPts val="10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76550" y="147875"/>
            <a:ext cx="83100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175125" y="4616075"/>
            <a:ext cx="85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2/3 Content">
  <p:cSld name="CUSTOM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328025" y="147875"/>
            <a:ext cx="55518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Light"/>
              <a:buNone/>
              <a:defRPr sz="300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8" name="Google Shape;28;p6"/>
          <p:cNvSpPr>
            <a:spLocks noGrp="1"/>
          </p:cNvSpPr>
          <p:nvPr>
            <p:ph type="pic" idx="2"/>
          </p:nvPr>
        </p:nvSpPr>
        <p:spPr>
          <a:xfrm>
            <a:off x="0" y="0"/>
            <a:ext cx="3063300" cy="491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3328075" y="975600"/>
            <a:ext cx="5551800" cy="3783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68300">
              <a:spcBef>
                <a:spcPts val="100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30200">
              <a:spcBef>
                <a:spcPts val="10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2/3 Content">
  <p:cSld name="CUSTOM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>
            <a:spLocks noGrp="1"/>
          </p:cNvSpPr>
          <p:nvPr>
            <p:ph type="pic" idx="2"/>
          </p:nvPr>
        </p:nvSpPr>
        <p:spPr>
          <a:xfrm>
            <a:off x="6080700" y="0"/>
            <a:ext cx="3063300" cy="48999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76550" y="1006425"/>
            <a:ext cx="5373000" cy="3893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68300">
              <a:spcBef>
                <a:spcPts val="100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30200">
              <a:spcBef>
                <a:spcPts val="10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76550" y="147875"/>
            <a:ext cx="83100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Light"/>
              <a:buNone/>
              <a:defRPr sz="300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Column Content">
  <p:cSld name="CUSTOM_2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376550" y="147875"/>
            <a:ext cx="8310000" cy="759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457200" y="875325"/>
            <a:ext cx="3602400" cy="3567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68300">
              <a:spcBef>
                <a:spcPts val="100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30200">
              <a:spcBef>
                <a:spcPts val="10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2"/>
          </p:nvPr>
        </p:nvSpPr>
        <p:spPr>
          <a:xfrm>
            <a:off x="4990000" y="875325"/>
            <a:ext cx="3696900" cy="3686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68300">
              <a:spcBef>
                <a:spcPts val="100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30200">
              <a:spcBef>
                <a:spcPts val="10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8"/>
          <p:cNvCxnSpPr/>
          <p:nvPr/>
        </p:nvCxnSpPr>
        <p:spPr>
          <a:xfrm>
            <a:off x="4572000" y="1052325"/>
            <a:ext cx="0" cy="3390900"/>
          </a:xfrm>
          <a:prstGeom prst="straightConnector1">
            <a:avLst/>
          </a:prstGeom>
          <a:noFill/>
          <a:ln w="9525" cap="flat" cmpd="sng">
            <a:solidFill>
              <a:srgbClr val="C51A4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7982222" y="4886307"/>
            <a:ext cx="70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68300">
              <a:spcBef>
                <a:spcPts val="100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30200">
              <a:spcBef>
                <a:spcPts val="1000"/>
              </a:spcBef>
              <a:spcAft>
                <a:spcPts val="0"/>
              </a:spcAft>
              <a:buSzPts val="1600"/>
              <a:buChar char="»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rot="5400000">
            <a:off x="4455600" y="455028"/>
            <a:ext cx="232800" cy="91440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76550" y="147875"/>
            <a:ext cx="83100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 Light"/>
              <a:buNone/>
              <a:defRPr sz="300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76850" y="987925"/>
            <a:ext cx="8310000" cy="3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–"/>
              <a:defRPr sz="22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–"/>
              <a:defRPr sz="18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»"/>
              <a:defRPr sz="16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  <a:defRPr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  <a:defRPr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  <a:defRPr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pen Sans"/>
              <a:buChar char="•"/>
              <a:defRPr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175125" y="4616075"/>
            <a:ext cx="854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6474250" y="4938050"/>
            <a:ext cx="2670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en-GB" sz="600">
                <a:solidFill>
                  <a:srgbClr val="FFFFFF"/>
                </a:solidFill>
              </a:rPr>
              <a:t>6</a:t>
            </a:r>
            <a:r>
              <a:rPr lang="en-GB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Nanyang Technological University. All rights reserved. 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gov.s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2" descr="A building with a balcony and tre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r="33271"/>
          <a:stretch/>
        </p:blipFill>
        <p:spPr>
          <a:xfrm>
            <a:off x="4629241" y="0"/>
            <a:ext cx="4572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4629240" y="4339244"/>
            <a:ext cx="4572000" cy="804300"/>
          </a:xfrm>
          <a:prstGeom prst="rect">
            <a:avLst/>
          </a:prstGeom>
          <a:solidFill>
            <a:srgbClr val="181C62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0" y="4339244"/>
            <a:ext cx="4629300" cy="8043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1" y="0"/>
            <a:ext cx="342900" cy="51435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 txBox="1"/>
          <p:nvPr/>
        </p:nvSpPr>
        <p:spPr>
          <a:xfrm>
            <a:off x="565475" y="1649875"/>
            <a:ext cx="3631800" cy="9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3000"/>
              <a:buFont typeface="Open Sans Light"/>
              <a:buNone/>
            </a:pPr>
            <a:r>
              <a:rPr lang="en-GB" sz="2400">
                <a:solidFill>
                  <a:srgbClr val="181C6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(SCTP) Advanced Professional Certificate</a:t>
            </a:r>
            <a:endParaRPr sz="2400"/>
          </a:p>
        </p:txBody>
      </p:sp>
      <p:sp>
        <p:nvSpPr>
          <p:cNvPr id="58" name="Google Shape;58;p12"/>
          <p:cNvSpPr txBox="1"/>
          <p:nvPr/>
        </p:nvSpPr>
        <p:spPr>
          <a:xfrm>
            <a:off x="562516" y="2571750"/>
            <a:ext cx="38922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1500"/>
              <a:buFont typeface="Open Sans"/>
              <a:buNone/>
            </a:pP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1500"/>
              <a:buFont typeface="Open Sans"/>
              <a:buNone/>
            </a:pPr>
            <a:r>
              <a:rPr lang="en-GB" sz="2400" b="1">
                <a:solidFill>
                  <a:srgbClr val="181C62"/>
                </a:solidFill>
                <a:latin typeface="Open Sans"/>
                <a:ea typeface="Open Sans"/>
                <a:cs typeface="Open Sans"/>
                <a:sym typeface="Open Sans"/>
              </a:rPr>
              <a:t>Data Science and AI</a:t>
            </a:r>
            <a:endParaRPr sz="2400" b="1">
              <a:solidFill>
                <a:srgbClr val="181C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2"/>
          <p:cNvPicPr preferRelativeResize="0"/>
          <p:nvPr/>
        </p:nvPicPr>
        <p:blipFill rotWithShape="1">
          <a:blip r:embed="rId4">
            <a:alphaModFix/>
          </a:blip>
          <a:srcRect t="30759" b="33662"/>
          <a:stretch/>
        </p:blipFill>
        <p:spPr>
          <a:xfrm>
            <a:off x="342900" y="0"/>
            <a:ext cx="4263655" cy="99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599700" y="2161500"/>
            <a:ext cx="79446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GB" b="1" dirty="0">
                <a:solidFill>
                  <a:schemeClr val="lt1"/>
                </a:solidFill>
              </a:rPr>
              <a:t>C</a:t>
            </a:r>
            <a:r>
              <a:rPr lang="en-GB" sz="3000" b="1" dirty="0">
                <a:solidFill>
                  <a:schemeClr val="lt1"/>
                </a:solidFill>
              </a:rPr>
              <a:t>3.2 </a:t>
            </a:r>
            <a:r>
              <a:rPr lang="en-GB" b="1" dirty="0">
                <a:solidFill>
                  <a:schemeClr val="lt1"/>
                </a:solidFill>
              </a:rPr>
              <a:t>Predicting HDB Prices: 3 Models &amp; </a:t>
            </a:r>
            <a:r>
              <a:rPr lang="en-GB" b="1" dirty="0" err="1">
                <a:solidFill>
                  <a:schemeClr val="lt1"/>
                </a:solidFill>
              </a:rPr>
              <a:t>Streamlit</a:t>
            </a:r>
            <a:r>
              <a:rPr lang="en-GB" b="1" dirty="0">
                <a:solidFill>
                  <a:schemeClr val="lt1"/>
                </a:solidFill>
              </a:rPr>
              <a:t> Deployment</a:t>
            </a: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11480" y="99441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Open Sans"/>
              <a:buNone/>
            </a:pPr>
            <a:r>
              <a:rPr lang="en-GB" sz="13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Coaching Session 2 ·  Machine Learning &amp; GenAI</a:t>
            </a:r>
            <a:endParaRPr sz="1100" dirty="0">
              <a:solidFill>
                <a:schemeClr val="lt1"/>
              </a:solidFill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411480" y="14401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5400"/>
              <a:buFont typeface="Open Sans"/>
              <a:buNone/>
            </a:pPr>
            <a:r>
              <a:rPr lang="en-GB" sz="5400" dirty="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C3.2</a:t>
            </a:r>
            <a:endParaRPr sz="1100" dirty="0">
              <a:solidFill>
                <a:schemeClr val="accent6"/>
              </a:solidFill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11480" y="2125980"/>
            <a:ext cx="8229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Open Sans"/>
              <a:buNone/>
            </a:pPr>
            <a:r>
              <a:rPr lang="en-GB" sz="5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HDB Price Predictor </a:t>
            </a:r>
            <a:br>
              <a:rPr lang="en-GB" sz="5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53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Comparing 3 Models</a:t>
            </a:r>
            <a:endParaRPr sz="1100">
              <a:solidFill>
                <a:schemeClr val="accent6"/>
              </a:solidFill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11480" y="41148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Open Sans"/>
              <a:buNone/>
            </a:pPr>
            <a:r>
              <a:rPr lang="en-GB" sz="1700" i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Linear Regression vs Random Forest vs Gradient Boosting, then deploy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0" y="0"/>
            <a:ext cx="9143700" cy="109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11480" y="240030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Today's roadmap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411480" y="685800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5" name="Google Shape;85;p15"/>
          <p:cNvSpPr txBox="1"/>
          <p:nvPr/>
        </p:nvSpPr>
        <p:spPr>
          <a:xfrm>
            <a:off x="411475" y="1047375"/>
            <a:ext cx="6953100" cy="793800"/>
          </a:xfrm>
          <a:prstGeom prst="rect">
            <a:avLst/>
          </a:prstGeom>
          <a:solidFill>
            <a:srgbClr val="1B2A4A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180000" rIns="180000" bIns="1800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Goal: predict the resale price of an HDB flat, compare three models fairly, and deploy the best one as a web app.</a:t>
            </a:r>
            <a:endParaRPr sz="1300" i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1426464" y="2788920"/>
            <a:ext cx="804672" cy="0"/>
          </a:xfrm>
          <a:prstGeom prst="line">
            <a:avLst/>
          </a:prstGeom>
          <a:ln w="254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859536" y="2505456"/>
            <a:ext cx="566928" cy="56692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324612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Models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Linear Regression, Random Forest, Gradient Boosting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798064" y="2788920"/>
            <a:ext cx="804672" cy="0"/>
          </a:xfrm>
          <a:prstGeom prst="line">
            <a:avLst/>
          </a:prstGeom>
          <a:ln w="254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2231136" y="2505456"/>
            <a:ext cx="566928" cy="56692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74519" y="324612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Metrics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MAE, RMSE and R²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169663" y="2788920"/>
            <a:ext cx="804673" cy="0"/>
          </a:xfrm>
          <a:prstGeom prst="line">
            <a:avLst/>
          </a:prstGeom>
          <a:ln w="254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3602736" y="2505456"/>
            <a:ext cx="566928" cy="56692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46120" y="324612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Fair comparison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Train/test split and cross-validation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541264" y="2788920"/>
            <a:ext cx="804672" cy="0"/>
          </a:xfrm>
          <a:prstGeom prst="line">
            <a:avLst/>
          </a:prstGeom>
          <a:ln w="254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4974336" y="2505456"/>
            <a:ext cx="566928" cy="56692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17720" y="324612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Features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Storey, one-hot encoding, Pipeline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912864" y="2788920"/>
            <a:ext cx="804672" cy="0"/>
          </a:xfrm>
          <a:prstGeom prst="line">
            <a:avLst/>
          </a:prstGeom>
          <a:ln w="254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6345936" y="2505456"/>
            <a:ext cx="566928" cy="56692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89320" y="324612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Code-along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Notebook, model.py, app.py</a:t>
            </a:r>
          </a:p>
        </p:txBody>
      </p:sp>
      <p:sp>
        <p:nvSpPr>
          <p:cNvPr id="101" name="Oval 100"/>
          <p:cNvSpPr/>
          <p:nvPr/>
        </p:nvSpPr>
        <p:spPr>
          <a:xfrm>
            <a:off x="7717536" y="2505456"/>
            <a:ext cx="566928" cy="56692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60920" y="324612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Deploy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Streamlit Community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0" y="0"/>
            <a:ext cx="9143700" cy="109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11480" y="240030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Linear Regression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411480" y="685800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4" name="Google Shape;84;p15"/>
          <p:cNvSpPr txBox="1"/>
          <p:nvPr/>
        </p:nvSpPr>
        <p:spPr>
          <a:xfrm>
            <a:off x="411480" y="2011680"/>
            <a:ext cx="7114032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Imagine you want to know if an HDB flat is priced fairly. Size matters, but so do location, floor level and the age of the lease.</a:t>
            </a:r>
            <a:endParaRPr sz="1300" b="1">
              <a:solidFill>
                <a:srgbClr val="2C569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Linear regression finds the best straight line through the data. With several features it learns one weight per feature:  price = b₀ + b₁ × floor area + b₂ × storey + …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The Goal: find the weights that make predictions as close as possible to the real prices.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The Prediction: plug a new flat's features into the formula.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In our model, each extra sqm adds about S$3,800 and each extra storey about S$4,800. That easy-to-read output is linear regression's biggest strength.</a:t>
            </a:r>
          </a:p>
        </p:txBody>
      </p:sp>
      <p:sp>
        <p:nvSpPr>
          <p:cNvPr id="85" name="Google Shape;85;p15"/>
          <p:cNvSpPr txBox="1"/>
          <p:nvPr/>
        </p:nvSpPr>
        <p:spPr>
          <a:xfrm>
            <a:off x="411475" y="1047375"/>
            <a:ext cx="6953100" cy="793800"/>
          </a:xfrm>
          <a:prstGeom prst="rect">
            <a:avLst/>
          </a:prstGeom>
          <a:solidFill>
            <a:srgbClr val="1B2A4A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180000" rIns="180000" bIns="1800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Linear Regression is used when you want to predict a continuous number (e.g., weight, price, temperature, salary).</a:t>
            </a:r>
            <a:endParaRPr sz="1300" i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376550" y="147875"/>
            <a:ext cx="8310000" cy="759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Open Sans"/>
                <a:ea typeface="Open Sans"/>
                <a:cs typeface="Open Sans"/>
                <a:sym typeface="Open Sans"/>
              </a:rPr>
              <a:t>Linear regression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1" name="Google Shape;91;p16" title="Gemini_Generated_Image_hwp5i3hwp5i3hwp5.png"/>
          <p:cNvPicPr preferRelativeResize="0"/>
          <p:nvPr/>
        </p:nvPicPr>
        <p:blipFill rotWithShape="1">
          <a:blip r:embed="rId3">
            <a:alphaModFix/>
          </a:blip>
          <a:srcRect l="3041" t="5097" r="51268" b="5136"/>
          <a:stretch>
            <a:fillRect/>
          </a:stretch>
        </p:blipFill>
        <p:spPr>
          <a:xfrm>
            <a:off x="2853447" y="1089498"/>
            <a:ext cx="3437106" cy="346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0" y="0"/>
            <a:ext cx="9143700" cy="109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11480" y="240030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Difference : Linear vs Logistic regression</a:t>
            </a:r>
            <a:endParaRPr sz="1100"/>
          </a:p>
        </p:txBody>
      </p:sp>
      <p:graphicFrame>
        <p:nvGraphicFramePr>
          <p:cNvPr id="100" name="Google Shape;100;p17"/>
          <p:cNvGraphicFramePr/>
          <p:nvPr>
            <p:extLst>
              <p:ext uri="{D42A27DB-BD31-4B8C-83A1-F6EECF244321}">
                <p14:modId xmlns:p14="http://schemas.microsoft.com/office/powerpoint/2010/main" val="3847002259"/>
              </p:ext>
            </p:extLst>
          </p:nvPr>
        </p:nvGraphicFramePr>
        <p:xfrm>
          <a:off x="672488" y="1052238"/>
          <a:ext cx="7707550" cy="3170075"/>
        </p:xfrm>
        <a:graphic>
          <a:graphicData uri="http://schemas.openxmlformats.org/drawingml/2006/table">
            <a:tbl>
              <a:tblPr>
                <a:noFill/>
                <a:tableStyleId>{47BE4396-FD88-403D-A040-2A6230E4996D}</a:tableStyleId>
              </a:tblPr>
              <a:tblGrid>
                <a:gridCol w="192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6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 b="1"/>
                        <a:t>Feature</a:t>
                      </a:r>
                      <a:endParaRPr sz="1400" b="1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 b="1"/>
                        <a:t>Linear Regression</a:t>
                      </a:r>
                      <a:endParaRPr sz="1400" b="1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 b="1"/>
                        <a:t>Logistic Regression</a:t>
                      </a:r>
                      <a:endParaRPr sz="1400" b="1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 b="1"/>
                        <a:t>What does it predict?</a:t>
                      </a:r>
                      <a:endParaRPr sz="1400" b="1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 dirty="0"/>
                        <a:t>A specific, continuous </a:t>
                      </a:r>
                      <a:r>
                        <a:rPr lang="en-GB" sz="1400" b="1" dirty="0"/>
                        <a:t>value/number</a:t>
                      </a:r>
                      <a:r>
                        <a:rPr lang="en-GB" sz="1400" dirty="0"/>
                        <a:t>.</a:t>
                      </a:r>
                      <a:endParaRPr sz="1400" dirty="0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/>
                        <a:t>A </a:t>
                      </a:r>
                      <a:r>
                        <a:rPr lang="en-GB" sz="1400" b="1"/>
                        <a:t>probability</a:t>
                      </a:r>
                      <a:r>
                        <a:rPr lang="en-GB" sz="1400"/>
                        <a:t> that leads to a Yes/No category.</a:t>
                      </a:r>
                      <a:endParaRPr sz="1400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 b="1"/>
                        <a:t>What does the line look like?</a:t>
                      </a:r>
                      <a:endParaRPr sz="1400" b="1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/>
                        <a:t>A straight line ($/$) going up or down.</a:t>
                      </a:r>
                      <a:endParaRPr sz="1800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/>
                        <a:t>An S-shaped curve ($S$) that flattens at 0 and 1</a:t>
                      </a:r>
                      <a:r>
                        <a:rPr lang="en-GB" sz="1800"/>
                        <a:t>.</a:t>
                      </a:r>
                      <a:endParaRPr sz="1800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 b="1"/>
                        <a:t>Example</a:t>
                      </a:r>
                      <a:endParaRPr sz="1400" b="1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/>
                        <a:t>Predicting how many marks a student will score.</a:t>
                      </a:r>
                      <a:endParaRPr sz="1400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GB" sz="1400" dirty="0"/>
                        <a:t>Predicting whether a student will Pass or Fail.</a:t>
                      </a:r>
                      <a:endParaRPr sz="1400" dirty="0"/>
                    </a:p>
                  </a:txBody>
                  <a:tcPr marL="114300" marR="114300" marT="76200" marB="76200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0" y="0"/>
            <a:ext cx="9143700" cy="109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11480" y="240030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Beyond straight lines: decision trees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411480" y="685800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4" name="Google Shape;84;p15"/>
          <p:cNvSpPr txBox="1"/>
          <p:nvPr/>
        </p:nvSpPr>
        <p:spPr>
          <a:xfrm>
            <a:off x="411480" y="2011680"/>
            <a:ext cx="402336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Why we need it</a:t>
            </a:r>
            <a:endParaRPr sz="1300" b="1">
              <a:solidFill>
                <a:srgbClr val="2C569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Price does not rise in a straight line with lease year or storey, and an extra sqm is worth more in Bishan than in Woodlands. Trees capture these curves and interactions automatically.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The catch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One deep tree memorises the training data (overfitting). Combining many trees fixes this. That is exactly what Random Forest and Gradient Boosting do.</a:t>
            </a:r>
          </a:p>
        </p:txBody>
      </p:sp>
      <p:sp>
        <p:nvSpPr>
          <p:cNvPr id="85" name="Google Shape;85;p15"/>
          <p:cNvSpPr txBox="1"/>
          <p:nvPr/>
        </p:nvSpPr>
        <p:spPr>
          <a:xfrm>
            <a:off x="411475" y="1047375"/>
            <a:ext cx="6953100" cy="793800"/>
          </a:xfrm>
          <a:prstGeom prst="rect">
            <a:avLst/>
          </a:prstGeom>
          <a:solidFill>
            <a:srgbClr val="1B2A4A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180000" rIns="180000" bIns="1800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 decision tree predicts by asking yes/no questions about the flat, then returning the average price of similar flats in the training data.</a:t>
            </a:r>
            <a:endParaRPr sz="1300" i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5669279" y="2103120"/>
            <a:ext cx="2103120" cy="43891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Floor area &gt; 100 sqm?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754880" y="2926080"/>
            <a:ext cx="1828800" cy="43891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Lease after 1995?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858000" y="2926080"/>
            <a:ext cx="1828800" cy="43891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Central town?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727448" y="3749039"/>
            <a:ext cx="877824" cy="38404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S$330k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733288" y="3749039"/>
            <a:ext cx="877824" cy="38404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S$430k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830568" y="3749039"/>
            <a:ext cx="877824" cy="38404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S$560k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836408" y="3749039"/>
            <a:ext cx="877824" cy="384048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S$720k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5669280" y="2542032"/>
            <a:ext cx="1051560" cy="384048"/>
          </a:xfrm>
          <a:prstGeom prst="line">
            <a:avLst/>
          </a:prstGeom>
          <a:ln w="1587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720840" y="2542032"/>
            <a:ext cx="1051560" cy="384048"/>
          </a:xfrm>
          <a:prstGeom prst="line">
            <a:avLst/>
          </a:prstGeom>
          <a:ln w="1587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5166360" y="3364992"/>
            <a:ext cx="502920" cy="384047"/>
          </a:xfrm>
          <a:prstGeom prst="line">
            <a:avLst/>
          </a:prstGeom>
          <a:ln w="1587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669280" y="3364992"/>
            <a:ext cx="502920" cy="384047"/>
          </a:xfrm>
          <a:prstGeom prst="line">
            <a:avLst/>
          </a:prstGeom>
          <a:ln w="1587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7269480" y="3364992"/>
            <a:ext cx="502920" cy="384047"/>
          </a:xfrm>
          <a:prstGeom prst="line">
            <a:avLst/>
          </a:prstGeom>
          <a:ln w="1587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772400" y="3364992"/>
            <a:ext cx="502920" cy="384047"/>
          </a:xfrm>
          <a:prstGeom prst="line">
            <a:avLst/>
          </a:prstGeom>
          <a:ln w="1587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897880" y="2560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No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69480" y="2560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Yes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83480" y="340156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No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340156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Yes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86600" y="340156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No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75320" y="340156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Yes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09160" y="42519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Illustrative example: each leaf predicts the average price of the training flats that end up there.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0" y="0"/>
            <a:ext cx="9143700" cy="109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11480" y="240030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Three models, three ways to learn</a:t>
            </a:r>
            <a:endParaRPr sz="1100"/>
          </a:p>
        </p:txBody>
      </p:sp>
      <p:graphicFrame>
        <p:nvGraphicFramePr>
          <p:cNvPr id="100" name="Google Shape;100;p17"/>
          <p:cNvGraphicFramePr/>
          <p:nvPr>
            <p:extLst>
              <p:ext uri="{D42A27DB-BD31-4B8C-83A1-F6EECF244321}">
                <p14:modId xmlns:p14="http://schemas.microsoft.com/office/powerpoint/2010/main" val="2269462185"/>
              </p:ext>
            </p:extLst>
          </p:nvPr>
        </p:nvGraphicFramePr>
        <p:xfrm>
          <a:off x="411479" y="868680"/>
          <a:ext cx="8375840" cy="3865449"/>
        </p:xfrm>
        <a:graphic>
          <a:graphicData uri="http://schemas.openxmlformats.org/drawingml/2006/table">
            <a:tbl>
              <a:tblPr>
                <a:noFill/>
                <a:tableStyleId>{47BE4396-FD88-403D-A040-2A6230E4996D}</a:tableStyleId>
              </a:tblPr>
              <a:tblGrid>
                <a:gridCol w="143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60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B2A4A"/>
                          </a:solidFill>
                          <a:latin typeface="Open Sans"/>
                          <a:ea typeface="Open Sans"/>
                          <a:cs typeface="Open Sans"/>
                        </a:rPr>
                        <a:t>Linear Regression</a:t>
                      </a:r>
                      <a:endParaRPr sz="18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B2A4A"/>
                          </a:solidFill>
                          <a:latin typeface="Open Sans"/>
                          <a:ea typeface="Open Sans"/>
                          <a:cs typeface="Open Sans"/>
                        </a:rPr>
                        <a:t>Random Forest</a:t>
                      </a:r>
                      <a:endParaRPr sz="18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 dirty="0">
                          <a:solidFill>
                            <a:srgbClr val="1B2A4A"/>
                          </a:solidFill>
                          <a:latin typeface="Open Sans"/>
                          <a:ea typeface="Open Sans"/>
                          <a:cs typeface="Open Sans"/>
                        </a:rPr>
                        <a:t>Gradient Boosting</a:t>
                      </a:r>
                      <a:endParaRPr sz="1800" b="1" dirty="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90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How it learns</a:t>
                      </a:r>
                      <a:endParaRPr sz="18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One weighted sum of the features</a:t>
                      </a:r>
                      <a:endParaRPr sz="18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Many deep trees, each trained on a random sample of the data; their predictions are averaged</a:t>
                      </a:r>
                      <a:endParaRPr sz="18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Many small trees built one after another; each new tree fixes the errors still left</a:t>
                      </a:r>
                      <a:endParaRPr sz="18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20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Strengths</a:t>
                      </a:r>
                      <a:endParaRPr sz="18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Fast, tiny file, easy to explain (S$ per unit)</a:t>
                      </a:r>
                      <a:endParaRPr sz="24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Captures curves and interactions; needs little tuning</a:t>
                      </a:r>
                      <a:endParaRPr sz="24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Often the most accurate on tabular data; compact file</a:t>
                      </a:r>
                      <a:endParaRPr sz="24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552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Watch out for</a:t>
                      </a:r>
                      <a:endParaRPr sz="18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 dirty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Assumes straight-line, additive effects</a:t>
                      </a:r>
                      <a:endParaRPr sz="1800" dirty="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Large file (stores every tree); slower to predict</a:t>
                      </a:r>
                      <a:endParaRPr sz="18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Slower to train; more settings to tune</a:t>
                      </a:r>
                      <a:endParaRPr sz="18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420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 dirty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Settings in </a:t>
                      </a:r>
                      <a:r>
                        <a:rPr sz="1400" b="1" i="0" dirty="0" err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model.py</a:t>
                      </a:r>
                      <a:endParaRPr sz="1800" b="1" dirty="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None to tune</a:t>
                      </a:r>
                      <a:endParaRPr sz="18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n_estimators=100, min_samples_leaf=2</a:t>
                      </a:r>
                      <a:endParaRPr sz="18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 dirty="0" err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n_estimators</a:t>
                      </a:r>
                      <a:r>
                        <a:rPr sz="1400" b="0" i="0" dirty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=500, </a:t>
                      </a:r>
                      <a:r>
                        <a:rPr sz="1400" b="0" i="0" dirty="0" err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max_depth</a:t>
                      </a:r>
                      <a:r>
                        <a:rPr sz="1400" b="0" i="0" dirty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=5, </a:t>
                      </a:r>
                      <a:r>
                        <a:rPr sz="1400" b="0" i="0" dirty="0" err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learning_rate</a:t>
                      </a:r>
                      <a:r>
                        <a:rPr sz="1400" b="0" i="0" dirty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=0.1</a:t>
                      </a:r>
                      <a:endParaRPr sz="1800" dirty="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0" y="0"/>
            <a:ext cx="9143700" cy="109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11480" y="240030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How do we measure error?</a:t>
            </a:r>
            <a:endParaRPr sz="1100"/>
          </a:p>
        </p:txBody>
      </p:sp>
      <p:graphicFrame>
        <p:nvGraphicFramePr>
          <p:cNvPr id="100" name="Google Shape;100;p17"/>
          <p:cNvGraphicFramePr/>
          <p:nvPr>
            <p:extLst>
              <p:ext uri="{D42A27DB-BD31-4B8C-83A1-F6EECF244321}">
                <p14:modId xmlns:p14="http://schemas.microsoft.com/office/powerpoint/2010/main" val="2238345062"/>
              </p:ext>
            </p:extLst>
          </p:nvPr>
        </p:nvGraphicFramePr>
        <p:xfrm>
          <a:off x="411480" y="868680"/>
          <a:ext cx="8229600" cy="2322576"/>
        </p:xfrm>
        <a:graphic>
          <a:graphicData uri="http://schemas.openxmlformats.org/drawingml/2006/table">
            <a:tbl>
              <a:tblPr>
                <a:noFill/>
                <a:tableStyleId>{47BE4396-FD88-403D-A040-2A6230E4996D}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 dirty="0">
                          <a:solidFill>
                            <a:srgbClr val="1B2A4A"/>
                          </a:solidFill>
                          <a:latin typeface="Open Sans"/>
                          <a:ea typeface="Open Sans"/>
                          <a:cs typeface="Open Sans"/>
                        </a:rPr>
                        <a:t>Metric</a:t>
                      </a:r>
                      <a:endParaRPr sz="1600" b="1" dirty="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B2A4A"/>
                          </a:solidFill>
                          <a:latin typeface="Open Sans"/>
                          <a:ea typeface="Open Sans"/>
                          <a:cs typeface="Open Sans"/>
                        </a:rPr>
                        <a:t>What it tells you</a:t>
                      </a:r>
                      <a:endParaRPr sz="16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B2A4A"/>
                          </a:solidFill>
                          <a:latin typeface="Open Sans"/>
                          <a:ea typeface="Open Sans"/>
                          <a:cs typeface="Open Sans"/>
                        </a:rPr>
                        <a:t>Better when</a:t>
                      </a:r>
                      <a:endParaRPr sz="16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MAE</a:t>
                      </a:r>
                      <a:endParaRPr sz="16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Mean absolute error: the average size of a miss, in S$. Easy to explain: "off by about S$26k on average".</a:t>
                      </a:r>
                      <a:endParaRPr sz="16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Lower</a:t>
                      </a:r>
                      <a:endParaRPr sz="16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RMSE</a:t>
                      </a:r>
                      <a:endParaRPr sz="16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Root mean squared error: squares each error first, so big misses count more. We use it to choose the model.</a:t>
                      </a:r>
                      <a:endParaRPr sz="20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Lower</a:t>
                      </a:r>
                      <a:endParaRPr sz="20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 dirty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R²</a:t>
                      </a:r>
                      <a:endParaRPr sz="1600" b="1" dirty="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 dirty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Share of price variation the model explains. 1 = perfect, 0 = no better than guessing the average price.</a:t>
                      </a:r>
                      <a:endParaRPr sz="1600" dirty="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i="0" dirty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Closer to 1</a:t>
                      </a:r>
                      <a:endParaRPr sz="1600" dirty="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1" name="Rounded Rectangle 100"/>
          <p:cNvSpPr/>
          <p:nvPr/>
        </p:nvSpPr>
        <p:spPr>
          <a:xfrm>
            <a:off x="411480" y="3657600"/>
            <a:ext cx="8229600" cy="73152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Always compare against a baseline. </a:t>
            </a: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Predicting the average price for every flat gives R² = 0 and MAE ≈ S$119k. Any real model must beat that.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0" y="0"/>
            <a:ext cx="9143700" cy="109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11480" y="240030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A fair comparison: train/test split and cross-validation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411480" y="685800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4" name="Google Shape;84;p15"/>
          <p:cNvSpPr txBox="1"/>
          <p:nvPr/>
        </p:nvSpPr>
        <p:spPr>
          <a:xfrm>
            <a:off x="411480" y="2011680"/>
            <a:ext cx="41148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1. Lock away a test set</a:t>
            </a:r>
            <a:endParaRPr sz="1300" b="1">
              <a:solidFill>
                <a:srgbClr val="2C569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80% of rows for training, 20% for testing (random_state=42). The test set stays untouched until the very end.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2. Cross-validate on the training set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Split the training data into 5 folds. Train on 4, score on the 5th, repeat 5 times and average the scores.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3. Choose, then test once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Pick the lowest cross-validated RMSE, then report its test score as the honest estimate.</a:t>
            </a:r>
          </a:p>
        </p:txBody>
      </p:sp>
      <p:sp>
        <p:nvSpPr>
          <p:cNvPr id="85" name="Google Shape;85;p15"/>
          <p:cNvSpPr txBox="1"/>
          <p:nvPr/>
        </p:nvSpPr>
        <p:spPr>
          <a:xfrm>
            <a:off x="411475" y="1047375"/>
            <a:ext cx="6953100" cy="793800"/>
          </a:xfrm>
          <a:prstGeom prst="rect">
            <a:avLst/>
          </a:prstGeom>
          <a:solidFill>
            <a:srgbClr val="1B2A4A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180000" rIns="180000" bIns="1800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Never choose a model by its test-set score. Once you use the test set to decide, it is no longer "unseen" data.</a:t>
            </a:r>
            <a:endParaRPr sz="1300" i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800600" y="2057400"/>
            <a:ext cx="3017520" cy="329184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Training data (80%)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72983" y="2057400"/>
            <a:ext cx="822960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Test (20%)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00600" y="249631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5-fold cross-validation on the training data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00600" y="280720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Fold 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04104" y="2807208"/>
            <a:ext cx="548640" cy="256032"/>
          </a:xfrm>
          <a:prstGeom prst="rect">
            <a:avLst/>
          </a:prstGeom>
          <a:solidFill>
            <a:srgbClr val="2C5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007608" y="2807208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611112" y="2807208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214616" y="2807208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818120" y="2807208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800600" y="3136391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Fold 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04104" y="3136391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007608" y="3136391"/>
            <a:ext cx="548640" cy="256032"/>
          </a:xfrm>
          <a:prstGeom prst="rect">
            <a:avLst/>
          </a:prstGeom>
          <a:solidFill>
            <a:srgbClr val="2C5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611112" y="3136391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214616" y="3136391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818120" y="3136391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800600" y="3465576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Fold 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404104" y="3465576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007608" y="3465576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611112" y="3465576"/>
            <a:ext cx="548640" cy="256032"/>
          </a:xfrm>
          <a:prstGeom prst="rect">
            <a:avLst/>
          </a:prstGeom>
          <a:solidFill>
            <a:srgbClr val="2C5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214616" y="3465576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818120" y="3465576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800600" y="379476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Fold 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04104" y="3794760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007608" y="3794760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6611112" y="3794760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214616" y="3794760"/>
            <a:ext cx="548640" cy="256032"/>
          </a:xfrm>
          <a:prstGeom prst="rect">
            <a:avLst/>
          </a:prstGeom>
          <a:solidFill>
            <a:srgbClr val="2C5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7818120" y="3794760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800600" y="412394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Fold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04104" y="4123944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6007608" y="4123944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6611112" y="4123944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7214616" y="4123944"/>
            <a:ext cx="548640" cy="25603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7818120" y="4123944"/>
            <a:ext cx="548640" cy="256032"/>
          </a:xfrm>
          <a:prstGeom prst="rect">
            <a:avLst/>
          </a:prstGeom>
          <a:solidFill>
            <a:srgbClr val="2C5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404104" y="4553712"/>
            <a:ext cx="164592" cy="164592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632704" y="4526279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Train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592824" y="4553712"/>
            <a:ext cx="164592" cy="164592"/>
          </a:xfrm>
          <a:prstGeom prst="rect">
            <a:avLst/>
          </a:prstGeom>
          <a:solidFill>
            <a:srgbClr val="2C5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821424" y="4526279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Validate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 idx="4294967295"/>
          </p:nvPr>
        </p:nvSpPr>
        <p:spPr>
          <a:xfrm>
            <a:off x="376550" y="147875"/>
            <a:ext cx="8310000" cy="759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Dataset: HDB resale prices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457200" y="2286000"/>
            <a:ext cx="8229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File:  </a:t>
            </a:r>
            <a:r>
              <a:rPr sz="1200" b="0" i="0">
                <a:solidFill>
                  <a:srgbClr val="1F1F1F"/>
                </a:solidFill>
                <a:latin typeface="Consolas"/>
                <a:ea typeface="Consolas"/>
                <a:cs typeface="Consolas"/>
              </a:rPr>
              <a:t>data/hdb_resale_2017_2019.csv</a:t>
            </a: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, a copy of </a:t>
            </a:r>
            <a:r>
              <a:rPr sz="1200" b="0" i="0">
                <a:solidFill>
                  <a:srgbClr val="2C5697"/>
                </a:solidFill>
                <a:latin typeface="Open Sans"/>
                <a:ea typeface="Open Sans"/>
                <a:cs typeface="Open Sans"/>
                <a:hlinkClick r:id="rId3"/>
              </a:rPr>
              <a:t>data.gov.sg</a:t>
            </a: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 resale data kept in the repo, so the lesson works offline.</a:t>
            </a:r>
            <a:endParaRPr b="1"/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Features:  </a:t>
            </a:r>
            <a:r>
              <a:rPr sz="1200" b="0" i="0">
                <a:solidFill>
                  <a:srgbClr val="1F1F1F"/>
                </a:solidFill>
                <a:latin typeface="Consolas"/>
                <a:ea typeface="Consolas"/>
                <a:cs typeface="Consolas"/>
              </a:rPr>
              <a:t>town · flat_type · floor_area_sqm · storey (from storey_range) · lease_commence_date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Target:  </a:t>
            </a:r>
            <a:r>
              <a:rPr sz="1200" b="0" i="0">
                <a:solidFill>
                  <a:srgbClr val="1F1F1F"/>
                </a:solidFill>
                <a:latin typeface="Consolas"/>
                <a:ea typeface="Consolas"/>
                <a:cs typeface="Consolas"/>
              </a:rPr>
              <a:t>resale_price</a:t>
            </a: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 (S$)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Not used:  </a:t>
            </a: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month (prices were fairly flat over this period), block and street_name (too many values), remaining_lease (repeats lease_commence_date).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C8102E"/>
                </a:solidFill>
                <a:latin typeface="Open Sans"/>
                <a:ea typeface="Open Sans"/>
                <a:cs typeface="Open Sans"/>
              </a:rPr>
              <a:t>Prices reflect the 2017 to 2019 market, not today's prices.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57200" y="100584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50,432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resale transactions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268980" y="100584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2017 – 2019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Jan 2017 to May 2019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080760" y="100584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26 towns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and 7 flat types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0" y="0"/>
            <a:ext cx="9143700" cy="109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11480" y="240030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Preparing features: from raw columns to model inputs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411480" y="685800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4" name="Google Shape;84;p15"/>
          <p:cNvSpPr txBox="1"/>
          <p:nvPr/>
        </p:nvSpPr>
        <p:spPr>
          <a:xfrm>
            <a:off x="411480" y="1965960"/>
            <a:ext cx="41148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storey_range becomes storey</a:t>
            </a:r>
            <a:endParaRPr sz="1300" b="1">
              <a:solidFill>
                <a:srgbClr val="2C569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"10 TO 12" becomes 11.0, the midpoint of the band.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One-hot encoding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Each town or flat type becomes its own 0/1 column. 5 raw columns become 36 model inputs.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Pipeline = encoder + model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Fitted on training data only (no leakage) and saved as one file.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hdb_features.py is shared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model.py and app.py import the same code, so features are built identically in training and in the app.</a:t>
            </a:r>
          </a:p>
        </p:txBody>
      </p:sp>
      <p:sp>
        <p:nvSpPr>
          <p:cNvPr id="85" name="Google Shape;85;p15"/>
          <p:cNvSpPr txBox="1"/>
          <p:nvPr/>
        </p:nvSpPr>
        <p:spPr>
          <a:xfrm>
            <a:off x="411475" y="1047375"/>
            <a:ext cx="6953100" cy="793800"/>
          </a:xfrm>
          <a:prstGeom prst="rect">
            <a:avLst/>
          </a:prstGeom>
          <a:solidFill>
            <a:srgbClr val="1B2A4A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180000" rIns="180000" bIns="1800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Models need numbers. We convert text to numbers inside a scikit-learn Pipeline, so the app can pass in raw values such as "BISHAN".</a:t>
            </a:r>
            <a:endParaRPr sz="1300" i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846320" y="20116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One-hot encoding of town</a:t>
            </a:r>
          </a:p>
        </p:txBody>
      </p:sp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4846320" y="2286000"/>
          <a:ext cx="384048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B2A4A"/>
                          </a:solidFill>
                          <a:latin typeface="Consolas"/>
                          <a:ea typeface="Consolas"/>
                          <a:cs typeface="Consolas"/>
                        </a:rPr>
                        <a:t>town</a:t>
                      </a:r>
                    </a:p>
                  </a:txBody>
                  <a:tcPr marL="36576" marR="3657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B2A4A"/>
                          </a:solidFill>
                          <a:latin typeface="Consolas"/>
                          <a:ea typeface="Consolas"/>
                          <a:cs typeface="Consolas"/>
                        </a:rPr>
                        <a:t>town_BEDOK</a:t>
                      </a:r>
                    </a:p>
                  </a:txBody>
                  <a:tcPr marL="36576" marR="3657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B2A4A"/>
                          </a:solidFill>
                          <a:latin typeface="Consolas"/>
                          <a:ea typeface="Consolas"/>
                          <a:cs typeface="Consolas"/>
                        </a:rPr>
                        <a:t>town_BISHAN</a:t>
                      </a:r>
                    </a:p>
                  </a:txBody>
                  <a:tcPr marL="36576" marR="3657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B2A4A"/>
                          </a:solidFill>
                          <a:latin typeface="Consolas"/>
                          <a:ea typeface="Consolas"/>
                          <a:cs typeface="Consolas"/>
                        </a:rPr>
                        <a:t>town_YISHUN</a:t>
                      </a:r>
                    </a:p>
                  </a:txBody>
                  <a:tcPr marL="36576" marR="36576" marT="27432" marB="27432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1F1F"/>
                          </a:solidFill>
                          <a:latin typeface="Consolas"/>
                          <a:ea typeface="Consolas"/>
                          <a:cs typeface="Consolas"/>
                        </a:rPr>
                        <a:t>BISHAN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2C56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1F1F"/>
                          </a:solidFill>
                          <a:latin typeface="Consolas"/>
                          <a:ea typeface="Consolas"/>
                          <a:cs typeface="Consolas"/>
                        </a:rPr>
                        <a:t>YISHUN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2C56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F1F1F"/>
                          </a:solidFill>
                          <a:latin typeface="Consolas"/>
                          <a:ea typeface="Consolas"/>
                          <a:cs typeface="Consolas"/>
                        </a:rPr>
                        <a:t>BEDOK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2C56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8" name="TextBox 87"/>
          <p:cNvSpPr txBox="1"/>
          <p:nvPr/>
        </p:nvSpPr>
        <p:spPr>
          <a:xfrm>
            <a:off x="4846320" y="36118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The Pipeline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846320" y="388620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Raw columns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888736" y="4114800"/>
            <a:ext cx="24688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6172200" y="38862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2C5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OneHotEncoder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534655" y="4114800"/>
            <a:ext cx="246889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7818120" y="3886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258700" y="619100"/>
            <a:ext cx="8766900" cy="3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400" b="1" i="0">
                <a:solidFill>
                  <a:srgbClr val="C8102E"/>
                </a:solidFill>
                <a:latin typeface="Open Sans"/>
                <a:ea typeface="Open Sans"/>
                <a:cs typeface="Open Sans"/>
              </a:rPr>
              <a:t>🟢  CODE-ALONG</a:t>
            </a:r>
            <a:endParaRPr b="1">
              <a:solidFill>
                <a:srgbClr val="C81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Open: </a:t>
            </a:r>
            <a:r>
              <a:rPr sz="2400" b="1" i="0">
                <a:solidFill>
                  <a:srgbClr val="00FF00"/>
                </a:solidFill>
                <a:latin typeface="Consolas"/>
                <a:ea typeface="Consolas"/>
                <a:cs typeface="Consolas"/>
              </a:rPr>
              <a:t>hdb_price_model.ipynb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4F5F7"/>
                </a:solidFill>
                <a:latin typeface="Open Sans"/>
                <a:ea typeface="Open Sans"/>
                <a:cs typeface="Open Sans"/>
              </a:rPr>
              <a:t>What you'll do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1.  Explore the data: price distribution, price by town, flat type and storey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2.  Engineer features and build the one-hot encoding Pipeline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3.  Train Linear Regression, Random Forest and Gradient Boosting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4.  Compare them with 5-fold cross-validation, plus file size and speed</a:t>
            </a:r>
          </a:p>
        </p:txBody>
      </p:sp>
      <p:sp>
        <p:nvSpPr>
          <p:cNvPr id="115" name="Google Shape;115;p19"/>
          <p:cNvSpPr/>
          <p:nvPr/>
        </p:nvSpPr>
        <p:spPr>
          <a:xfrm>
            <a:off x="411475" y="3774200"/>
            <a:ext cx="8450700" cy="691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603100" y="3795950"/>
            <a:ext cx="8078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Select the hdb_project kernel first. A full run takes about 1 to 2 minutes; cross-validating the tree models is the slowest part.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0" y="0"/>
            <a:ext cx="9143700" cy="109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11480" y="240030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Results: which model wins?</a:t>
            </a:r>
            <a:endParaRPr sz="1100"/>
          </a:p>
        </p:txBody>
      </p:sp>
      <p:graphicFrame>
        <p:nvGraphicFramePr>
          <p:cNvPr id="100" name="Google Shape;100;p17"/>
          <p:cNvGraphicFramePr/>
          <p:nvPr/>
        </p:nvGraphicFramePr>
        <p:xfrm>
          <a:off x="411480" y="868680"/>
          <a:ext cx="4846319" cy="1517904"/>
        </p:xfrm>
        <a:graphic>
          <a:graphicData uri="http://schemas.openxmlformats.org/drawingml/2006/table">
            <a:tbl>
              <a:tblPr>
                <a:noFill/>
                <a:tableStyleId>{47BE4396-FD88-403D-A040-2A6230E4996D}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B2A4A"/>
                          </a:solidFill>
                          <a:latin typeface="Open Sans"/>
                          <a:ea typeface="Open Sans"/>
                          <a:cs typeface="Open Sans"/>
                        </a:rPr>
                        <a:t>Model</a:t>
                      </a:r>
                      <a:endParaRPr sz="11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B2A4A"/>
                          </a:solidFill>
                          <a:latin typeface="Open Sans"/>
                          <a:ea typeface="Open Sans"/>
                          <a:cs typeface="Open Sans"/>
                        </a:rPr>
                        <a:t>CV RMSE (S$)</a:t>
                      </a:r>
                      <a:endParaRPr sz="11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B2A4A"/>
                          </a:solidFill>
                          <a:latin typeface="Open Sans"/>
                          <a:ea typeface="Open Sans"/>
                          <a:cs typeface="Open Sans"/>
                        </a:rPr>
                        <a:t>Test R²</a:t>
                      </a:r>
                      <a:endParaRPr sz="11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B2A4A"/>
                          </a:solidFill>
                          <a:latin typeface="Open Sans"/>
                          <a:ea typeface="Open Sans"/>
                          <a:cs typeface="Open Sans"/>
                        </a:rPr>
                        <a:t>File size</a:t>
                      </a:r>
                      <a:endParaRPr sz="11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Linear Regression</a:t>
                      </a:r>
                      <a:endParaRPr sz="11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60,245</a:t>
                      </a:r>
                      <a:endParaRPr sz="11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0.848</a:t>
                      </a:r>
                      <a:endParaRPr sz="11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&lt; 0.1 MB</a:t>
                      </a:r>
                      <a:endParaRPr sz="11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Random Forest</a:t>
                      </a:r>
                      <a:endParaRPr sz="11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36,661</a:t>
                      </a:r>
                      <a:endParaRPr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0.947</a:t>
                      </a:r>
                      <a:endParaRPr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~26 MB</a:t>
                      </a:r>
                      <a:endParaRPr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Gradient Boosting</a:t>
                      </a:r>
                      <a:endParaRPr sz="1100" b="1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36,121</a:t>
                      </a:r>
                      <a:endParaRPr sz="11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0.947</a:t>
                      </a:r>
                      <a:endParaRPr sz="11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</a:rPr>
                        <a:t>~0.7 MB</a:t>
                      </a:r>
                      <a:endParaRPr sz="1100"/>
                    </a:p>
                  </a:txBody>
                  <a:tcPr marL="82296" marR="82296" marT="54864" marB="54864" anchor="ctr">
                    <a:lnL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1" name="TextBox 100"/>
          <p:cNvSpPr txBox="1"/>
          <p:nvPr/>
        </p:nvSpPr>
        <p:spPr>
          <a:xfrm>
            <a:off x="411480" y="265176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Tree models cut the error by about 40%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Price depends on the features in curved, interacting ways that a straight line cannot capture.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Features mattered even more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The original project used Linear Regression on 3 numeric columns only: R² ≈ 0.54. Adding town and flat type lifted it to 0.85.</a:t>
            </a:r>
          </a:p>
        </p:txBody>
      </p:sp>
      <p:graphicFrame>
        <p:nvGraphicFramePr>
          <p:cNvPr id="102" name="Chart 101"/>
          <p:cNvGraphicFramePr>
            <a:graphicFrameLocks noGrp="1"/>
          </p:cNvGraphicFramePr>
          <p:nvPr/>
        </p:nvGraphicFramePr>
        <p:xfrm>
          <a:off x="5440680" y="822960"/>
          <a:ext cx="33375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0" y="0"/>
            <a:ext cx="9143700" cy="109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11480" y="240030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Choosing the model to deploy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411480" y="685800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4" name="Google Shape;84;p15"/>
          <p:cNvSpPr txBox="1"/>
          <p:nvPr/>
        </p:nvSpPr>
        <p:spPr>
          <a:xfrm>
            <a:off x="411480" y="1920240"/>
            <a:ext cx="475488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Accuracy</a:t>
            </a:r>
            <a:endParaRPr sz="1300" b="1">
              <a:solidFill>
                <a:srgbClr val="2C569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Gradient Boosting and Random Forest tie on test R² (0.947). Gradient Boosting has the lower CV RMSE.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Size and speed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A 0.7 MB file is quick to push to GitHub and load in the app. The Random Forest is about 26 MB.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Plot twist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Random Forest has a slightly lower test MAE (S$25.1k vs S$26.2k). We still choose by CV, not by peeking at the test set.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5697"/>
                </a:solidFill>
                <a:latin typeface="Open Sans"/>
                <a:ea typeface="Open Sans"/>
                <a:cs typeface="Open Sans"/>
              </a:rPr>
              <a:t>When would you pick Linear Regression?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1F1F1F"/>
                </a:solidFill>
                <a:latin typeface="Open Sans"/>
                <a:ea typeface="Open Sans"/>
                <a:cs typeface="Open Sans"/>
              </a:rPr>
              <a:t>When you must explain every dollar to a stakeholder, or you have very little data.</a:t>
            </a:r>
          </a:p>
        </p:txBody>
      </p:sp>
      <p:sp>
        <p:nvSpPr>
          <p:cNvPr id="85" name="Google Shape;85;p15"/>
          <p:cNvSpPr txBox="1"/>
          <p:nvPr/>
        </p:nvSpPr>
        <p:spPr>
          <a:xfrm>
            <a:off x="411475" y="1047375"/>
            <a:ext cx="6953100" cy="793800"/>
          </a:xfrm>
          <a:prstGeom prst="rect">
            <a:avLst/>
          </a:prstGeom>
          <a:solidFill>
            <a:srgbClr val="1B2A4A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180000" rIns="180000" bIns="1800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Rule: deploy the model with the lowest cross-validated RMSE. That is Gradient Boosting (S$36,121).</a:t>
            </a:r>
            <a:endParaRPr sz="1300" i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5532120" y="2057400"/>
            <a:ext cx="3154680" cy="118872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8102E"/>
                </a:solidFill>
                <a:latin typeface="Open Sans"/>
                <a:ea typeface="Open Sans"/>
                <a:cs typeface="Open Sans"/>
              </a:rPr>
              <a:t>35×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smaller file than the Random Forest (0.7 MB vs 26 MB)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532120" y="3429000"/>
            <a:ext cx="3154680" cy="118872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B2A4A"/>
                </a:solidFill>
                <a:latin typeface="Open Sans"/>
                <a:ea typeface="Open Sans"/>
                <a:cs typeface="Open Sans"/>
              </a:rPr>
              <a:t>± S$26k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Open Sans"/>
                <a:ea typeface="Open Sans"/>
                <a:cs typeface="Open Sans"/>
              </a:rPr>
              <a:t>typical error (test MAE), shown in the app as a price range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258700" y="619100"/>
            <a:ext cx="8766900" cy="3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400" b="1" i="0">
                <a:solidFill>
                  <a:srgbClr val="C8102E"/>
                </a:solidFill>
                <a:latin typeface="Open Sans"/>
                <a:ea typeface="Open Sans"/>
                <a:cs typeface="Open Sans"/>
              </a:rPr>
              <a:t>🟢  CODE-ALONG</a:t>
            </a:r>
            <a:endParaRPr b="1">
              <a:solidFill>
                <a:srgbClr val="C81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Open: </a:t>
            </a:r>
            <a:r>
              <a:rPr sz="2400" b="1" i="0">
                <a:solidFill>
                  <a:srgbClr val="00FF00"/>
                </a:solidFill>
                <a:latin typeface="Consolas"/>
                <a:ea typeface="Consolas"/>
                <a:cs typeface="Consolas"/>
              </a:rPr>
              <a:t>model.py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4F5F7"/>
                </a:solidFill>
                <a:latin typeface="Open Sans"/>
                <a:ea typeface="Open Sans"/>
                <a:cs typeface="Open Sans"/>
              </a:rPr>
              <a:t>What you'll do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1.  Load the data and add the storey feature (from hdb_features.py)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2.  Train all 3 Pipelines and score each with 5-fold cross-validation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3.  Save the winner to models/hdb_price_model.joblib, plus models/model_card.json</a:t>
            </a:r>
          </a:p>
        </p:txBody>
      </p:sp>
      <p:sp>
        <p:nvSpPr>
          <p:cNvPr id="115" name="Google Shape;115;p19"/>
          <p:cNvSpPr/>
          <p:nvPr/>
        </p:nvSpPr>
        <p:spPr>
          <a:xfrm>
            <a:off x="411475" y="3774200"/>
            <a:ext cx="8450700" cy="691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603100" y="3795950"/>
            <a:ext cx="8078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requirements.txt pins exact versions (e.g. scikit-learn==1.9.1). The cloud must load the model with the same versions you trained with.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258700" y="619100"/>
            <a:ext cx="8766900" cy="3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400" b="1" i="0">
                <a:solidFill>
                  <a:srgbClr val="C8102E"/>
                </a:solidFill>
                <a:latin typeface="Open Sans"/>
                <a:ea typeface="Open Sans"/>
                <a:cs typeface="Open Sans"/>
              </a:rPr>
              <a:t>🟢  CODE-ALONG</a:t>
            </a:r>
            <a:endParaRPr b="1">
              <a:solidFill>
                <a:srgbClr val="C81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Open: </a:t>
            </a:r>
            <a:r>
              <a:rPr sz="2400" b="1" i="0">
                <a:solidFill>
                  <a:srgbClr val="00FF00"/>
                </a:solidFill>
                <a:latin typeface="Consolas"/>
                <a:ea typeface="Consolas"/>
                <a:cs typeface="Consolas"/>
              </a:rPr>
              <a:t>app.py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4F5F7"/>
                </a:solidFill>
                <a:latin typeface="Open Sans"/>
                <a:ea typeface="Open Sans"/>
                <a:cs typeface="Open Sans"/>
              </a:rPr>
              <a:t>What you'll do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1.  Load the saved model and model_card.json (cached with st.cache_resource)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2.  Build the form: town and flat type dropdowns; sliders for size, storey and lease year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3.  Make a one-row DataFrame with the same columns as training, then call model.predict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4.  Show the price with a likely range, plus a Model comparison tab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F4F5F7"/>
                </a:solidFill>
                <a:latin typeface="Open Sans"/>
                <a:ea typeface="Open Sans"/>
                <a:cs typeface="Open Sans"/>
              </a:rPr>
              <a:t>Run:  </a:t>
            </a:r>
            <a:r>
              <a:rPr sz="1600" b="1" i="0">
                <a:solidFill>
                  <a:srgbClr val="00FF00"/>
                </a:solidFill>
                <a:latin typeface="Consolas"/>
                <a:ea typeface="Consolas"/>
                <a:cs typeface="Consolas"/>
              </a:rPr>
              <a:t>streamlit run app.py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258700" y="619100"/>
            <a:ext cx="87669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400" b="1" i="0">
                <a:solidFill>
                  <a:srgbClr val="C8102E"/>
                </a:solidFill>
                <a:latin typeface="Open Sans"/>
                <a:ea typeface="Open Sans"/>
                <a:cs typeface="Open Sans"/>
              </a:rPr>
              <a:t>🟢  CODE-ALONG</a:t>
            </a:r>
            <a:endParaRPr b="1">
              <a:solidFill>
                <a:srgbClr val="C81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Deploy the app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4F5F7"/>
                </a:solidFill>
                <a:latin typeface="Open Sans"/>
                <a:ea typeface="Open Sans"/>
                <a:cs typeface="Open Sans"/>
              </a:rPr>
              <a:t>What you'll do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1.  Commit and push your code </a:t>
            </a:r>
            <a:r>
              <a:rPr sz="1300" b="1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and the models/ folder</a:t>
            </a: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to your GitHub fork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2.  Log in at </a:t>
            </a:r>
            <a:r>
              <a:rPr sz="1300" b="1" i="0">
                <a:solidFill>
                  <a:srgbClr val="00FF00"/>
                </a:solidFill>
                <a:latin typeface="Open Sans"/>
                <a:ea typeface="Open Sans"/>
                <a:cs typeface="Open Sans"/>
              </a:rPr>
              <a:t>share.streamlit.io</a:t>
            </a: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with GitHub, then click Create app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3.  Repository: your fork  ·  Branch: main  ·  Main file path: app.py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4.  Advanced settings: Python 3.12 (same as you trained with), then Deploy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5.  Share your unique URL. Full steps in </a:t>
            </a:r>
            <a:r>
              <a:rPr sz="1300" b="1" i="0">
                <a:solidFill>
                  <a:srgbClr val="00FF00"/>
                </a:solidFill>
                <a:latin typeface="Open Sans"/>
                <a:ea typeface="Open Sans"/>
                <a:cs typeface="Open Sans"/>
              </a:rPr>
              <a:t>setup.md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0" y="5088636"/>
            <a:ext cx="9143700" cy="54900"/>
          </a:xfrm>
          <a:prstGeom prst="rect">
            <a:avLst/>
          </a:prstGeom>
          <a:solidFill>
            <a:srgbClr val="C8102E"/>
          </a:solidFill>
          <a:ln w="9525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258700" y="619100"/>
            <a:ext cx="8766900" cy="3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400" b="1" i="0">
                <a:solidFill>
                  <a:srgbClr val="C8102E"/>
                </a:solidFill>
                <a:latin typeface="Open Sans"/>
                <a:ea typeface="Open Sans"/>
                <a:cs typeface="Open Sans"/>
              </a:rPr>
              <a:t>🧪  YOUR TURN</a:t>
            </a:r>
            <a:endParaRPr b="1">
              <a:solidFill>
                <a:srgbClr val="C81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Exercises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4F5F7"/>
                </a:solidFill>
                <a:latin typeface="Open Sans"/>
                <a:ea typeface="Open Sans"/>
                <a:cs typeface="Open Sans"/>
              </a:rPr>
              <a:t>What you'll do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1.  Add flat_model as a feature. Does CV RMSE improve? What must change in app.py?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2.  Shrink the Random Forest (n_estimators=50, min_samples_leaf=5). Accuracy vs file size?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3.  Gradient Boosting with learning_rate=0.05 and n_estimators=1000: worth the extra time?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4.  Retrain on the latest data from data.gov.sg. How much have prices changed since 2019?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5.  Explain your app's accuracy to a non-technical user in two sentences.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U SCT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2652</Words>
  <Application>Microsoft Macintosh PowerPoint</Application>
  <PresentationFormat>On-screen Show (16:9)</PresentationFormat>
  <Paragraphs>262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Open Sans Light</vt:lpstr>
      <vt:lpstr>Open Sans</vt:lpstr>
      <vt:lpstr>Calibri</vt:lpstr>
      <vt:lpstr>Consolas</vt:lpstr>
      <vt:lpstr>Arial</vt:lpstr>
      <vt:lpstr>NTU SCTP</vt:lpstr>
      <vt:lpstr>PowerPoint Presentation</vt:lpstr>
      <vt:lpstr>C3.2 Predicting HDB Prices: 3 Models &amp; Streamlit Deployment</vt:lpstr>
      <vt:lpstr>PowerPoint Presentation</vt:lpstr>
      <vt:lpstr>PowerPoint Presentation</vt:lpstr>
      <vt:lpstr>PowerPoint Presentation</vt:lpstr>
      <vt:lpstr>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Dataset: HDB resale prices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Feng Feng</cp:lastModifiedBy>
  <cp:revision>1</cp:revision>
  <dcterms:modified xsi:type="dcterms:W3CDTF">2026-10-01T12:13:43Z</dcterms:modified>
</cp:coreProperties>
</file>